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3716000" cy="7721600"/>
  <p:notesSz cx="13716000" cy="77216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28700" y="2393696"/>
            <a:ext cx="11658600" cy="162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57400" y="4324096"/>
            <a:ext cx="9601200" cy="193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85800" y="1775968"/>
            <a:ext cx="5966460" cy="50962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063740" y="1775968"/>
            <a:ext cx="5966460" cy="50962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3715999" cy="174420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2776072"/>
            <a:ext cx="13716000" cy="4129404"/>
          </a:xfrm>
          <a:custGeom>
            <a:avLst/>
            <a:gdLst/>
            <a:ahLst/>
            <a:cxnLst/>
            <a:rect l="l" t="t" r="r" b="b"/>
            <a:pathLst>
              <a:path w="13716000" h="4129404">
                <a:moveTo>
                  <a:pt x="0" y="4129320"/>
                </a:moveTo>
                <a:lnTo>
                  <a:pt x="0" y="0"/>
                </a:lnTo>
                <a:lnTo>
                  <a:pt x="13715998" y="0"/>
                </a:lnTo>
                <a:lnTo>
                  <a:pt x="13715998" y="4129320"/>
                </a:lnTo>
                <a:lnTo>
                  <a:pt x="0" y="4129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11114" y="7350538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211114" y="7574919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35494" y="7350538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35494" y="7574919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659874" y="7350538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659874" y="7574919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884255" y="7350538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884255" y="7574919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108635" y="7350538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108635" y="7574919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333015" y="7350538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1333015" y="7574919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1557395" y="7350538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557395" y="7574919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1781775" y="7350538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1781775" y="7574919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2006155" y="7350538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2006155" y="7574919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2230535" y="7350538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2230535" y="7574919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2454915" y="7350538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2454915" y="7574919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10976996" y="80908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80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10976996" y="346803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79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11241499" y="80908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80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11241499" y="346803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79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11506003" y="80908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80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11506003" y="346803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79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11770507" y="80908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80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11770507" y="346803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79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bg object 49"/>
          <p:cNvSpPr/>
          <p:nvPr/>
        </p:nvSpPr>
        <p:spPr>
          <a:xfrm>
            <a:off x="12035010" y="80908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80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bg object 50"/>
          <p:cNvSpPr/>
          <p:nvPr/>
        </p:nvSpPr>
        <p:spPr>
          <a:xfrm>
            <a:off x="12035010" y="346803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79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12299513" y="80908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80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12299513" y="346803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79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12564016" y="80908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80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12564016" y="346803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79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12828520" y="80908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80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12828520" y="346803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5" h="43179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13093024" y="80908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4" h="43180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13093024" y="346803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4" h="43179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13357527" y="80908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4" h="43180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13357527" y="346803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4" h="43179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13622030" y="80908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4" h="43180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13622030" y="346803"/>
            <a:ext cx="48895" cy="43180"/>
          </a:xfrm>
          <a:custGeom>
            <a:avLst/>
            <a:gdLst/>
            <a:ahLst/>
            <a:cxnLst/>
            <a:rect l="l" t="t" r="r" b="b"/>
            <a:pathLst>
              <a:path w="48894" h="43179">
                <a:moveTo>
                  <a:pt x="48724" y="43155"/>
                </a:moveTo>
                <a:lnTo>
                  <a:pt x="0" y="43155"/>
                </a:lnTo>
                <a:lnTo>
                  <a:pt x="0" y="0"/>
                </a:lnTo>
                <a:lnTo>
                  <a:pt x="48724" y="0"/>
                </a:lnTo>
                <a:lnTo>
                  <a:pt x="48724" y="431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5393"/>
            <a:ext cx="9342755" cy="7710170"/>
          </a:xfrm>
          <a:custGeom>
            <a:avLst/>
            <a:gdLst/>
            <a:ahLst/>
            <a:cxnLst/>
            <a:rect l="l" t="t" r="r" b="b"/>
            <a:pathLst>
              <a:path w="9342754" h="7710170">
                <a:moveTo>
                  <a:pt x="0" y="0"/>
                </a:moveTo>
                <a:lnTo>
                  <a:pt x="9342576" y="0"/>
                </a:lnTo>
                <a:lnTo>
                  <a:pt x="9342576" y="7709856"/>
                </a:lnTo>
                <a:lnTo>
                  <a:pt x="0" y="77098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348065" y="70840"/>
            <a:ext cx="939165" cy="712470"/>
          </a:xfrm>
          <a:custGeom>
            <a:avLst/>
            <a:gdLst/>
            <a:ahLst/>
            <a:cxnLst/>
            <a:rect l="l" t="t" r="r" b="b"/>
            <a:pathLst>
              <a:path w="939165" h="712470">
                <a:moveTo>
                  <a:pt x="41325" y="675500"/>
                </a:moveTo>
                <a:lnTo>
                  <a:pt x="0" y="675500"/>
                </a:lnTo>
                <a:lnTo>
                  <a:pt x="0" y="712114"/>
                </a:lnTo>
                <a:lnTo>
                  <a:pt x="41325" y="712114"/>
                </a:lnTo>
                <a:lnTo>
                  <a:pt x="41325" y="675500"/>
                </a:lnTo>
                <a:close/>
              </a:path>
              <a:path w="939165" h="712470">
                <a:moveTo>
                  <a:pt x="41325" y="449935"/>
                </a:moveTo>
                <a:lnTo>
                  <a:pt x="0" y="449935"/>
                </a:lnTo>
                <a:lnTo>
                  <a:pt x="0" y="486549"/>
                </a:lnTo>
                <a:lnTo>
                  <a:pt x="41325" y="486549"/>
                </a:lnTo>
                <a:lnTo>
                  <a:pt x="41325" y="449935"/>
                </a:lnTo>
                <a:close/>
              </a:path>
              <a:path w="939165" h="712470">
                <a:moveTo>
                  <a:pt x="41325" y="225564"/>
                </a:moveTo>
                <a:lnTo>
                  <a:pt x="0" y="225564"/>
                </a:lnTo>
                <a:lnTo>
                  <a:pt x="0" y="262166"/>
                </a:lnTo>
                <a:lnTo>
                  <a:pt x="41325" y="262166"/>
                </a:lnTo>
                <a:lnTo>
                  <a:pt x="41325" y="225564"/>
                </a:lnTo>
                <a:close/>
              </a:path>
              <a:path w="939165" h="712470">
                <a:moveTo>
                  <a:pt x="41325" y="0"/>
                </a:moveTo>
                <a:lnTo>
                  <a:pt x="0" y="0"/>
                </a:lnTo>
                <a:lnTo>
                  <a:pt x="0" y="36614"/>
                </a:lnTo>
                <a:lnTo>
                  <a:pt x="41325" y="36614"/>
                </a:lnTo>
                <a:lnTo>
                  <a:pt x="41325" y="0"/>
                </a:lnTo>
                <a:close/>
              </a:path>
              <a:path w="939165" h="712470">
                <a:moveTo>
                  <a:pt x="265709" y="675500"/>
                </a:moveTo>
                <a:lnTo>
                  <a:pt x="224370" y="675500"/>
                </a:lnTo>
                <a:lnTo>
                  <a:pt x="224370" y="712114"/>
                </a:lnTo>
                <a:lnTo>
                  <a:pt x="265709" y="712114"/>
                </a:lnTo>
                <a:lnTo>
                  <a:pt x="265709" y="675500"/>
                </a:lnTo>
                <a:close/>
              </a:path>
              <a:path w="939165" h="712470">
                <a:moveTo>
                  <a:pt x="265709" y="449935"/>
                </a:moveTo>
                <a:lnTo>
                  <a:pt x="224370" y="449935"/>
                </a:lnTo>
                <a:lnTo>
                  <a:pt x="224370" y="486549"/>
                </a:lnTo>
                <a:lnTo>
                  <a:pt x="265709" y="486549"/>
                </a:lnTo>
                <a:lnTo>
                  <a:pt x="265709" y="449935"/>
                </a:lnTo>
                <a:close/>
              </a:path>
              <a:path w="939165" h="712470">
                <a:moveTo>
                  <a:pt x="265709" y="225564"/>
                </a:moveTo>
                <a:lnTo>
                  <a:pt x="224370" y="225564"/>
                </a:lnTo>
                <a:lnTo>
                  <a:pt x="224370" y="262166"/>
                </a:lnTo>
                <a:lnTo>
                  <a:pt x="265709" y="262166"/>
                </a:lnTo>
                <a:lnTo>
                  <a:pt x="265709" y="225564"/>
                </a:lnTo>
                <a:close/>
              </a:path>
              <a:path w="939165" h="712470">
                <a:moveTo>
                  <a:pt x="265709" y="0"/>
                </a:moveTo>
                <a:lnTo>
                  <a:pt x="224370" y="0"/>
                </a:lnTo>
                <a:lnTo>
                  <a:pt x="224370" y="36614"/>
                </a:lnTo>
                <a:lnTo>
                  <a:pt x="265709" y="36614"/>
                </a:lnTo>
                <a:lnTo>
                  <a:pt x="265709" y="0"/>
                </a:lnTo>
                <a:close/>
              </a:path>
              <a:path w="939165" h="712470">
                <a:moveTo>
                  <a:pt x="490093" y="675500"/>
                </a:moveTo>
                <a:lnTo>
                  <a:pt x="448754" y="675500"/>
                </a:lnTo>
                <a:lnTo>
                  <a:pt x="448754" y="712114"/>
                </a:lnTo>
                <a:lnTo>
                  <a:pt x="490093" y="712114"/>
                </a:lnTo>
                <a:lnTo>
                  <a:pt x="490093" y="675500"/>
                </a:lnTo>
                <a:close/>
              </a:path>
              <a:path w="939165" h="712470">
                <a:moveTo>
                  <a:pt x="490093" y="449935"/>
                </a:moveTo>
                <a:lnTo>
                  <a:pt x="448754" y="449935"/>
                </a:lnTo>
                <a:lnTo>
                  <a:pt x="448754" y="486549"/>
                </a:lnTo>
                <a:lnTo>
                  <a:pt x="490093" y="486549"/>
                </a:lnTo>
                <a:lnTo>
                  <a:pt x="490093" y="449935"/>
                </a:lnTo>
                <a:close/>
              </a:path>
              <a:path w="939165" h="712470">
                <a:moveTo>
                  <a:pt x="490093" y="225564"/>
                </a:moveTo>
                <a:lnTo>
                  <a:pt x="448754" y="225564"/>
                </a:lnTo>
                <a:lnTo>
                  <a:pt x="448754" y="262166"/>
                </a:lnTo>
                <a:lnTo>
                  <a:pt x="490093" y="262166"/>
                </a:lnTo>
                <a:lnTo>
                  <a:pt x="490093" y="225564"/>
                </a:lnTo>
                <a:close/>
              </a:path>
              <a:path w="939165" h="712470">
                <a:moveTo>
                  <a:pt x="490093" y="0"/>
                </a:moveTo>
                <a:lnTo>
                  <a:pt x="448754" y="0"/>
                </a:lnTo>
                <a:lnTo>
                  <a:pt x="448754" y="36614"/>
                </a:lnTo>
                <a:lnTo>
                  <a:pt x="490093" y="36614"/>
                </a:lnTo>
                <a:lnTo>
                  <a:pt x="490093" y="0"/>
                </a:lnTo>
                <a:close/>
              </a:path>
              <a:path w="939165" h="712470">
                <a:moveTo>
                  <a:pt x="714463" y="675500"/>
                </a:moveTo>
                <a:lnTo>
                  <a:pt x="673138" y="675500"/>
                </a:lnTo>
                <a:lnTo>
                  <a:pt x="673138" y="712114"/>
                </a:lnTo>
                <a:lnTo>
                  <a:pt x="714463" y="712114"/>
                </a:lnTo>
                <a:lnTo>
                  <a:pt x="714463" y="675500"/>
                </a:lnTo>
                <a:close/>
              </a:path>
              <a:path w="939165" h="712470">
                <a:moveTo>
                  <a:pt x="714463" y="449935"/>
                </a:moveTo>
                <a:lnTo>
                  <a:pt x="673138" y="449935"/>
                </a:lnTo>
                <a:lnTo>
                  <a:pt x="673138" y="486549"/>
                </a:lnTo>
                <a:lnTo>
                  <a:pt x="714463" y="486549"/>
                </a:lnTo>
                <a:lnTo>
                  <a:pt x="714463" y="449935"/>
                </a:lnTo>
                <a:close/>
              </a:path>
              <a:path w="939165" h="712470">
                <a:moveTo>
                  <a:pt x="714463" y="225564"/>
                </a:moveTo>
                <a:lnTo>
                  <a:pt x="673138" y="225564"/>
                </a:lnTo>
                <a:lnTo>
                  <a:pt x="673138" y="262166"/>
                </a:lnTo>
                <a:lnTo>
                  <a:pt x="714463" y="262166"/>
                </a:lnTo>
                <a:lnTo>
                  <a:pt x="714463" y="225564"/>
                </a:lnTo>
                <a:close/>
              </a:path>
              <a:path w="939165" h="712470">
                <a:moveTo>
                  <a:pt x="714463" y="0"/>
                </a:moveTo>
                <a:lnTo>
                  <a:pt x="673138" y="0"/>
                </a:lnTo>
                <a:lnTo>
                  <a:pt x="673138" y="36614"/>
                </a:lnTo>
                <a:lnTo>
                  <a:pt x="714463" y="36614"/>
                </a:lnTo>
                <a:lnTo>
                  <a:pt x="714463" y="0"/>
                </a:lnTo>
                <a:close/>
              </a:path>
              <a:path w="939165" h="712470">
                <a:moveTo>
                  <a:pt x="938847" y="675500"/>
                </a:moveTo>
                <a:lnTo>
                  <a:pt x="897509" y="675500"/>
                </a:lnTo>
                <a:lnTo>
                  <a:pt x="897509" y="712114"/>
                </a:lnTo>
                <a:lnTo>
                  <a:pt x="938847" y="712114"/>
                </a:lnTo>
                <a:lnTo>
                  <a:pt x="938847" y="675500"/>
                </a:lnTo>
                <a:close/>
              </a:path>
              <a:path w="939165" h="712470">
                <a:moveTo>
                  <a:pt x="938847" y="449935"/>
                </a:moveTo>
                <a:lnTo>
                  <a:pt x="897509" y="449935"/>
                </a:lnTo>
                <a:lnTo>
                  <a:pt x="897509" y="486549"/>
                </a:lnTo>
                <a:lnTo>
                  <a:pt x="938847" y="486549"/>
                </a:lnTo>
                <a:lnTo>
                  <a:pt x="938847" y="449935"/>
                </a:lnTo>
                <a:close/>
              </a:path>
              <a:path w="939165" h="712470">
                <a:moveTo>
                  <a:pt x="938847" y="225564"/>
                </a:moveTo>
                <a:lnTo>
                  <a:pt x="897509" y="225564"/>
                </a:lnTo>
                <a:lnTo>
                  <a:pt x="897509" y="262166"/>
                </a:lnTo>
                <a:lnTo>
                  <a:pt x="938847" y="262166"/>
                </a:lnTo>
                <a:lnTo>
                  <a:pt x="938847" y="225564"/>
                </a:lnTo>
                <a:close/>
              </a:path>
              <a:path w="939165" h="712470">
                <a:moveTo>
                  <a:pt x="938847" y="0"/>
                </a:moveTo>
                <a:lnTo>
                  <a:pt x="897509" y="0"/>
                </a:lnTo>
                <a:lnTo>
                  <a:pt x="897509" y="36614"/>
                </a:lnTo>
                <a:lnTo>
                  <a:pt x="938847" y="36614"/>
                </a:lnTo>
                <a:lnTo>
                  <a:pt x="938847" y="0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469966" y="70834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30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469966" y="29639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469966" y="52077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469966" y="7463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9694347" y="70834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30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9694347" y="29639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9694347" y="52077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9694347" y="7463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9918727" y="70834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30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9918727" y="29639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9918727" y="52077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9918727" y="7463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10143107" y="70834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30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0143107" y="29639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10143107" y="52077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10143107" y="7463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10367487" y="70834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30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10367487" y="29639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10367487" y="52077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10367487" y="7463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10591867" y="70834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30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10591867" y="29639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10591867" y="52077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10591867" y="7463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0345" y="3198645"/>
            <a:ext cx="11435308" cy="109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0929" y="2592375"/>
            <a:ext cx="11974140" cy="2451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663440" y="7181088"/>
            <a:ext cx="4389120" cy="386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85800" y="7181088"/>
            <a:ext cx="3154680" cy="386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875520" y="7181088"/>
            <a:ext cx="3154680" cy="386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43091" y="7199742"/>
            <a:ext cx="142557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270">
                <a:solidFill>
                  <a:srgbClr val="FFFFFF"/>
                </a:solidFill>
                <a:latin typeface="Microsoft Sans Serif"/>
                <a:cs typeface="Microsoft Sans Serif"/>
              </a:rPr>
              <a:t>Author</a:t>
            </a:r>
            <a:r>
              <a:rPr dirty="0" sz="13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55">
                <a:solidFill>
                  <a:srgbClr val="FFFFFF"/>
                </a:solidFill>
                <a:latin typeface="Microsoft Sans Serif"/>
                <a:cs typeface="Microsoft Sans Serif"/>
              </a:rPr>
              <a:t>Name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2536190" marR="5080" indent="-2524125">
              <a:lnSpc>
                <a:spcPct val="100899"/>
              </a:lnSpc>
              <a:spcBef>
                <a:spcPts val="70"/>
              </a:spcBef>
            </a:pPr>
            <a:r>
              <a:rPr dirty="0" spc="335"/>
              <a:t>Strategic</a:t>
            </a:r>
            <a:r>
              <a:rPr dirty="0" spc="-555"/>
              <a:t> </a:t>
            </a:r>
            <a:r>
              <a:rPr dirty="0" spc="245"/>
              <a:t>Solutions:</a:t>
            </a:r>
            <a:r>
              <a:rPr dirty="0" spc="-555"/>
              <a:t> </a:t>
            </a:r>
            <a:r>
              <a:rPr dirty="0" spc="355"/>
              <a:t>Empowering</a:t>
            </a:r>
            <a:r>
              <a:rPr dirty="0" spc="-555"/>
              <a:t> </a:t>
            </a:r>
            <a:r>
              <a:rPr dirty="0" spc="395"/>
              <a:t>Businesses </a:t>
            </a:r>
            <a:r>
              <a:rPr dirty="0" spc="-1220"/>
              <a:t> </a:t>
            </a:r>
            <a:r>
              <a:rPr dirty="0" spc="670"/>
              <a:t>w</a:t>
            </a:r>
            <a:r>
              <a:rPr dirty="0" spc="229"/>
              <a:t>i</a:t>
            </a:r>
            <a:r>
              <a:rPr dirty="0" spc="280"/>
              <a:t>t</a:t>
            </a:r>
            <a:r>
              <a:rPr dirty="0" spc="285"/>
              <a:t>h</a:t>
            </a:r>
            <a:r>
              <a:rPr dirty="0" spc="-560"/>
              <a:t> </a:t>
            </a:r>
            <a:r>
              <a:rPr dirty="0" spc="305"/>
              <a:t>S</a:t>
            </a:r>
            <a:r>
              <a:rPr dirty="0" spc="420"/>
              <a:t>k</a:t>
            </a:r>
            <a:r>
              <a:rPr dirty="0" spc="229"/>
              <a:t>ill</a:t>
            </a:r>
            <a:r>
              <a:rPr dirty="0" spc="409"/>
              <a:t>e</a:t>
            </a:r>
            <a:r>
              <a:rPr dirty="0" spc="320"/>
              <a:t>d</a:t>
            </a:r>
            <a:r>
              <a:rPr dirty="0" spc="-560"/>
              <a:t> </a:t>
            </a:r>
            <a:r>
              <a:rPr dirty="0" spc="545"/>
              <a:t>L</a:t>
            </a:r>
            <a:r>
              <a:rPr dirty="0" spc="390"/>
              <a:t>a</a:t>
            </a:r>
            <a:r>
              <a:rPr dirty="0" spc="315"/>
              <a:t>b</a:t>
            </a:r>
            <a:r>
              <a:rPr dirty="0" spc="370"/>
              <a:t>o</a:t>
            </a:r>
            <a:r>
              <a:rPr dirty="0" spc="170"/>
              <a:t>r</a:t>
            </a:r>
            <a:r>
              <a:rPr dirty="0" spc="-635"/>
              <a:t> </a:t>
            </a:r>
            <a:r>
              <a:rPr dirty="0" spc="305"/>
              <a:t>S</a:t>
            </a:r>
            <a:r>
              <a:rPr dirty="0" spc="280"/>
              <a:t>u</a:t>
            </a:r>
            <a:r>
              <a:rPr dirty="0" spc="315"/>
              <a:t>pp</a:t>
            </a:r>
            <a:r>
              <a:rPr dirty="0" spc="229"/>
              <a:t>l</a:t>
            </a:r>
            <a:r>
              <a:rPr dirty="0" spc="215"/>
              <a:t>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47871" y="7197328"/>
            <a:ext cx="2077802" cy="365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816" y="0"/>
            <a:ext cx="2995429" cy="77152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84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84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84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84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4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322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322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322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322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22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760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760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60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760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760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198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198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198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198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198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636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636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636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6636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6636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954226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954226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954226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082402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082402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082402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21057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21057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21057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33875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33875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3875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46692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46692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46692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5105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5105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595105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723281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723281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723281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85145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85145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85145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97963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97963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97963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310780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310780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10780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3235984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235984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235984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70929" y="2592375"/>
            <a:ext cx="5883275" cy="2451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700"/>
              </a:lnSpc>
              <a:spcBef>
                <a:spcPts val="95"/>
              </a:spcBef>
            </a:pP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In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 competitive landscape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of </a:t>
            </a:r>
            <a:r>
              <a:rPr dirty="0" sz="1550" spc="90">
                <a:solidFill>
                  <a:srgbClr val="414141"/>
                </a:solidFill>
                <a:latin typeface="Microsoft Sans Serif"/>
                <a:cs typeface="Microsoft Sans Serif"/>
              </a:rPr>
              <a:t>modern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business,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strategic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solutions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play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crucial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role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in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empowering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companies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with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 </a:t>
            </a:r>
            <a:r>
              <a:rPr dirty="0" sz="1550" spc="-40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skilled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labor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supply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needed to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thrive. </a:t>
            </a:r>
            <a:r>
              <a:rPr dirty="0" sz="1550" spc="114">
                <a:solidFill>
                  <a:srgbClr val="414141"/>
                </a:solidFill>
                <a:latin typeface="Microsoft Sans Serif"/>
                <a:cs typeface="Microsoft Sans Serif"/>
              </a:rPr>
              <a:t>By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aligning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objectives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with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workforce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capabilities,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organizations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</a:t>
            </a:r>
            <a:endParaRPr sz="1550">
              <a:latin typeface="Microsoft Sans Serif"/>
              <a:cs typeface="Microsoft Sans Serif"/>
            </a:endParaRPr>
          </a:p>
          <a:p>
            <a:pPr marL="12700" marR="294640">
              <a:lnSpc>
                <a:spcPct val="146700"/>
              </a:lnSpc>
            </a:pP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e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ectively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drive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growth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innovation.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Let's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explore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how </a:t>
            </a:r>
            <a:r>
              <a:rPr dirty="0" sz="1550" spc="9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strategic</a:t>
            </a:r>
            <a:r>
              <a:rPr dirty="0" sz="1550" spc="-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solutions</a:t>
            </a:r>
            <a:r>
              <a:rPr dirty="0" sz="1550" spc="-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elevate</a:t>
            </a:r>
            <a:r>
              <a:rPr dirty="0" sz="1550" spc="-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</a:t>
            </a:r>
            <a:r>
              <a:rPr dirty="0" sz="1550" spc="-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through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</a:t>
            </a:r>
            <a:r>
              <a:rPr dirty="0" sz="1550" spc="-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power</a:t>
            </a:r>
            <a:r>
              <a:rPr dirty="0" sz="1550" spc="-8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of </a:t>
            </a:r>
            <a:r>
              <a:rPr dirty="0" sz="1550" spc="-39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skilled</a:t>
            </a:r>
            <a:r>
              <a:rPr dirty="0" sz="1550" spc="-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20">
                <a:solidFill>
                  <a:srgbClr val="414141"/>
                </a:solidFill>
                <a:latin typeface="Microsoft Sans Serif"/>
                <a:cs typeface="Microsoft Sans Serif"/>
              </a:rPr>
              <a:t>labor.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870182" y="745215"/>
            <a:ext cx="5149215" cy="73279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0"/>
              </a:spcBef>
            </a:pPr>
            <a:r>
              <a:rPr dirty="0" sz="2300" spc="175">
                <a:latin typeface="Lucida Sans Unicode"/>
                <a:cs typeface="Lucida Sans Unicode"/>
              </a:rPr>
              <a:t>1</a:t>
            </a:r>
            <a:r>
              <a:rPr dirty="0" sz="2300" spc="90">
                <a:latin typeface="Lucida Sans Unicode"/>
                <a:cs typeface="Lucida Sans Unicode"/>
              </a:rPr>
              <a:t>.</a:t>
            </a:r>
            <a:r>
              <a:rPr dirty="0" sz="2300" spc="-290">
                <a:latin typeface="Lucida Sans Unicode"/>
                <a:cs typeface="Lucida Sans Unicode"/>
              </a:rPr>
              <a:t> </a:t>
            </a:r>
            <a:r>
              <a:rPr dirty="0" sz="2300" spc="235">
                <a:latin typeface="Lucida Sans Unicode"/>
                <a:cs typeface="Lucida Sans Unicode"/>
              </a:rPr>
              <a:t>I</a:t>
            </a:r>
            <a:r>
              <a:rPr dirty="0" sz="2300" spc="204">
                <a:latin typeface="Lucida Sans Unicode"/>
                <a:cs typeface="Lucida Sans Unicode"/>
              </a:rPr>
              <a:t>n</a:t>
            </a:r>
            <a:r>
              <a:rPr dirty="0" sz="2300" spc="225">
                <a:latin typeface="Lucida Sans Unicode"/>
                <a:cs typeface="Lucida Sans Unicode"/>
              </a:rPr>
              <a:t>t</a:t>
            </a:r>
            <a:r>
              <a:rPr dirty="0" sz="2300" spc="125">
                <a:latin typeface="Lucida Sans Unicode"/>
                <a:cs typeface="Lucida Sans Unicode"/>
              </a:rPr>
              <a:t>r</a:t>
            </a:r>
            <a:r>
              <a:rPr dirty="0" sz="2300" spc="220">
                <a:latin typeface="Lucida Sans Unicode"/>
                <a:cs typeface="Lucida Sans Unicode"/>
              </a:rPr>
              <a:t>o</a:t>
            </a:r>
            <a:r>
              <a:rPr dirty="0" sz="2300" spc="185">
                <a:latin typeface="Lucida Sans Unicode"/>
                <a:cs typeface="Lucida Sans Unicode"/>
              </a:rPr>
              <a:t>d</a:t>
            </a:r>
            <a:r>
              <a:rPr dirty="0" sz="2300" spc="204">
                <a:latin typeface="Lucida Sans Unicode"/>
                <a:cs typeface="Lucida Sans Unicode"/>
              </a:rPr>
              <a:t>u</a:t>
            </a:r>
            <a:r>
              <a:rPr dirty="0" sz="2300" spc="455">
                <a:latin typeface="Lucida Sans Unicode"/>
                <a:cs typeface="Lucida Sans Unicode"/>
              </a:rPr>
              <a:t>c</a:t>
            </a:r>
            <a:r>
              <a:rPr dirty="0" sz="2300" spc="225">
                <a:latin typeface="Lucida Sans Unicode"/>
                <a:cs typeface="Lucida Sans Unicode"/>
              </a:rPr>
              <a:t>t</a:t>
            </a:r>
            <a:r>
              <a:rPr dirty="0" sz="2300" spc="114">
                <a:latin typeface="Lucida Sans Unicode"/>
                <a:cs typeface="Lucida Sans Unicode"/>
              </a:rPr>
              <a:t>i</a:t>
            </a:r>
            <a:r>
              <a:rPr dirty="0" sz="2300" spc="220">
                <a:latin typeface="Lucida Sans Unicode"/>
                <a:cs typeface="Lucida Sans Unicode"/>
              </a:rPr>
              <a:t>o</a:t>
            </a:r>
            <a:r>
              <a:rPr dirty="0" sz="2300" spc="204">
                <a:latin typeface="Lucida Sans Unicode"/>
                <a:cs typeface="Lucida Sans Unicode"/>
              </a:rPr>
              <a:t>n</a:t>
            </a:r>
            <a:r>
              <a:rPr dirty="0" sz="2300" spc="90">
                <a:latin typeface="Lucida Sans Unicode"/>
                <a:cs typeface="Lucida Sans Unicode"/>
              </a:rPr>
              <a:t>:</a:t>
            </a:r>
            <a:r>
              <a:rPr dirty="0" sz="2300" spc="-290">
                <a:latin typeface="Lucida Sans Unicode"/>
                <a:cs typeface="Lucida Sans Unicode"/>
              </a:rPr>
              <a:t> </a:t>
            </a:r>
            <a:r>
              <a:rPr dirty="0" sz="2300" spc="320">
                <a:latin typeface="Lucida Sans Unicode"/>
                <a:cs typeface="Lucida Sans Unicode"/>
              </a:rPr>
              <a:t>A</a:t>
            </a:r>
            <a:r>
              <a:rPr dirty="0" sz="2300" spc="185">
                <a:latin typeface="Lucida Sans Unicode"/>
                <a:cs typeface="Lucida Sans Unicode"/>
              </a:rPr>
              <a:t>dd</a:t>
            </a:r>
            <a:r>
              <a:rPr dirty="0" sz="2300" spc="125">
                <a:latin typeface="Lucida Sans Unicode"/>
                <a:cs typeface="Lucida Sans Unicode"/>
              </a:rPr>
              <a:t>r</a:t>
            </a:r>
            <a:r>
              <a:rPr dirty="0" sz="2300" spc="350">
                <a:latin typeface="Lucida Sans Unicode"/>
                <a:cs typeface="Lucida Sans Unicode"/>
              </a:rPr>
              <a:t>e</a:t>
            </a:r>
            <a:r>
              <a:rPr dirty="0" sz="2300" spc="320">
                <a:latin typeface="Lucida Sans Unicode"/>
                <a:cs typeface="Lucida Sans Unicode"/>
              </a:rPr>
              <a:t>ss</a:t>
            </a:r>
            <a:r>
              <a:rPr dirty="0" sz="2300" spc="114">
                <a:latin typeface="Lucida Sans Unicode"/>
                <a:cs typeface="Lucida Sans Unicode"/>
              </a:rPr>
              <a:t>i</a:t>
            </a:r>
            <a:r>
              <a:rPr dirty="0" sz="2300" spc="204">
                <a:latin typeface="Lucida Sans Unicode"/>
                <a:cs typeface="Lucida Sans Unicode"/>
              </a:rPr>
              <a:t>n</a:t>
            </a:r>
            <a:r>
              <a:rPr dirty="0" sz="2300" spc="200">
                <a:latin typeface="Lucida Sans Unicode"/>
                <a:cs typeface="Lucida Sans Unicode"/>
              </a:rPr>
              <a:t>g</a:t>
            </a:r>
            <a:r>
              <a:rPr dirty="0" sz="2300" spc="-290">
                <a:latin typeface="Lucida Sans Unicode"/>
                <a:cs typeface="Lucida Sans Unicode"/>
              </a:rPr>
              <a:t> </a:t>
            </a:r>
            <a:r>
              <a:rPr dirty="0" sz="2300" spc="225">
                <a:latin typeface="Lucida Sans Unicode"/>
                <a:cs typeface="Lucida Sans Unicode"/>
              </a:rPr>
              <a:t>t</a:t>
            </a:r>
            <a:r>
              <a:rPr dirty="0" sz="2300" spc="204">
                <a:latin typeface="Lucida Sans Unicode"/>
                <a:cs typeface="Lucida Sans Unicode"/>
              </a:rPr>
              <a:t>h</a:t>
            </a:r>
            <a:r>
              <a:rPr dirty="0" sz="2300" spc="250">
                <a:latin typeface="Lucida Sans Unicode"/>
                <a:cs typeface="Lucida Sans Unicode"/>
              </a:rPr>
              <a:t>e  </a:t>
            </a:r>
            <a:r>
              <a:rPr dirty="0" sz="2300" spc="455">
                <a:latin typeface="Lucida Sans Unicode"/>
                <a:cs typeface="Lucida Sans Unicode"/>
              </a:rPr>
              <a:t>c</a:t>
            </a:r>
            <a:r>
              <a:rPr dirty="0" sz="2300" spc="145">
                <a:latin typeface="Lucida Sans Unicode"/>
                <a:cs typeface="Lucida Sans Unicode"/>
              </a:rPr>
              <a:t>r</a:t>
            </a:r>
            <a:r>
              <a:rPr dirty="0" sz="2300" spc="204">
                <a:latin typeface="Lucida Sans Unicode"/>
                <a:cs typeface="Lucida Sans Unicode"/>
              </a:rPr>
              <a:t>u</a:t>
            </a:r>
            <a:r>
              <a:rPr dirty="0" sz="2300" spc="455">
                <a:latin typeface="Lucida Sans Unicode"/>
                <a:cs typeface="Lucida Sans Unicode"/>
              </a:rPr>
              <a:t>c</a:t>
            </a:r>
            <a:r>
              <a:rPr dirty="0" sz="2300" spc="114">
                <a:latin typeface="Lucida Sans Unicode"/>
                <a:cs typeface="Lucida Sans Unicode"/>
              </a:rPr>
              <a:t>i</a:t>
            </a:r>
            <a:r>
              <a:rPr dirty="0" sz="2300" spc="360">
                <a:latin typeface="Lucida Sans Unicode"/>
                <a:cs typeface="Lucida Sans Unicode"/>
              </a:rPr>
              <a:t>a</a:t>
            </a:r>
            <a:r>
              <a:rPr dirty="0" sz="2300" spc="114">
                <a:latin typeface="Lucida Sans Unicode"/>
                <a:cs typeface="Lucida Sans Unicode"/>
              </a:rPr>
              <a:t>l</a:t>
            </a:r>
            <a:r>
              <a:rPr dirty="0" sz="2300" spc="-290">
                <a:latin typeface="Lucida Sans Unicode"/>
                <a:cs typeface="Lucida Sans Unicode"/>
              </a:rPr>
              <a:t> </a:t>
            </a:r>
            <a:r>
              <a:rPr dirty="0" sz="2300" spc="204">
                <a:latin typeface="Lucida Sans Unicode"/>
                <a:cs typeface="Lucida Sans Unicode"/>
              </a:rPr>
              <a:t>n</a:t>
            </a:r>
            <a:r>
              <a:rPr dirty="0" sz="2300" spc="350">
                <a:latin typeface="Lucida Sans Unicode"/>
                <a:cs typeface="Lucida Sans Unicode"/>
              </a:rPr>
              <a:t>ee</a:t>
            </a:r>
            <a:r>
              <a:rPr dirty="0" sz="2300" spc="190">
                <a:latin typeface="Lucida Sans Unicode"/>
                <a:cs typeface="Lucida Sans Unicode"/>
              </a:rPr>
              <a:t>d</a:t>
            </a:r>
            <a:r>
              <a:rPr dirty="0" sz="2300" spc="-290">
                <a:latin typeface="Lucida Sans Unicode"/>
                <a:cs typeface="Lucida Sans Unicode"/>
              </a:rPr>
              <a:t> </a:t>
            </a:r>
            <a:r>
              <a:rPr dirty="0" sz="2300" spc="95">
                <a:latin typeface="Lucida Sans Unicode"/>
                <a:cs typeface="Lucida Sans Unicode"/>
              </a:rPr>
              <a:t>f</a:t>
            </a:r>
            <a:r>
              <a:rPr dirty="0" sz="2300" spc="220">
                <a:latin typeface="Lucida Sans Unicode"/>
                <a:cs typeface="Lucida Sans Unicode"/>
              </a:rPr>
              <a:t>o</a:t>
            </a:r>
            <a:r>
              <a:rPr dirty="0" sz="2300" spc="150">
                <a:latin typeface="Lucida Sans Unicode"/>
                <a:cs typeface="Lucida Sans Unicode"/>
              </a:rPr>
              <a:t>r</a:t>
            </a:r>
            <a:r>
              <a:rPr dirty="0" sz="2300" spc="-335">
                <a:latin typeface="Lucida Sans Unicode"/>
                <a:cs typeface="Lucida Sans Unicode"/>
              </a:rPr>
              <a:t> </a:t>
            </a:r>
            <a:r>
              <a:rPr dirty="0" sz="2300" spc="320">
                <a:latin typeface="Lucida Sans Unicode"/>
                <a:cs typeface="Lucida Sans Unicode"/>
              </a:rPr>
              <a:t>s</a:t>
            </a:r>
            <a:r>
              <a:rPr dirty="0" sz="2300" spc="285">
                <a:latin typeface="Lucida Sans Unicode"/>
                <a:cs typeface="Lucida Sans Unicode"/>
              </a:rPr>
              <a:t>k</a:t>
            </a:r>
            <a:r>
              <a:rPr dirty="0" sz="2300" spc="114">
                <a:latin typeface="Lucida Sans Unicode"/>
                <a:cs typeface="Lucida Sans Unicode"/>
              </a:rPr>
              <a:t>ill</a:t>
            </a:r>
            <a:r>
              <a:rPr dirty="0" sz="2300" spc="350">
                <a:latin typeface="Lucida Sans Unicode"/>
                <a:cs typeface="Lucida Sans Unicode"/>
              </a:rPr>
              <a:t>e</a:t>
            </a:r>
            <a:r>
              <a:rPr dirty="0" sz="2300" spc="190">
                <a:latin typeface="Lucida Sans Unicode"/>
                <a:cs typeface="Lucida Sans Unicode"/>
              </a:rPr>
              <a:t>d</a:t>
            </a:r>
            <a:r>
              <a:rPr dirty="0" sz="2300" spc="-290">
                <a:latin typeface="Lucida Sans Unicode"/>
                <a:cs typeface="Lucida Sans Unicode"/>
              </a:rPr>
              <a:t> </a:t>
            </a:r>
            <a:r>
              <a:rPr dirty="0" sz="2300" spc="114">
                <a:latin typeface="Lucida Sans Unicode"/>
                <a:cs typeface="Lucida Sans Unicode"/>
              </a:rPr>
              <a:t>l</a:t>
            </a:r>
            <a:r>
              <a:rPr dirty="0" sz="2300" spc="360">
                <a:latin typeface="Lucida Sans Unicode"/>
                <a:cs typeface="Lucida Sans Unicode"/>
              </a:rPr>
              <a:t>a</a:t>
            </a:r>
            <a:r>
              <a:rPr dirty="0" sz="2300" spc="185">
                <a:latin typeface="Lucida Sans Unicode"/>
                <a:cs typeface="Lucida Sans Unicode"/>
              </a:rPr>
              <a:t>b</a:t>
            </a:r>
            <a:r>
              <a:rPr dirty="0" sz="2300" spc="220">
                <a:latin typeface="Lucida Sans Unicode"/>
                <a:cs typeface="Lucida Sans Unicode"/>
              </a:rPr>
              <a:t>o</a:t>
            </a:r>
            <a:r>
              <a:rPr dirty="0" sz="2300" spc="150">
                <a:latin typeface="Lucida Sans Unicode"/>
                <a:cs typeface="Lucida Sans Unicode"/>
              </a:rPr>
              <a:t>r</a:t>
            </a:r>
            <a:endParaRPr sz="2300">
              <a:latin typeface="Lucida Sans Unicode"/>
              <a:cs typeface="Lucida Sans Unicode"/>
            </a:endParaRPr>
          </a:p>
        </p:txBody>
      </p:sp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47871" y="7197328"/>
            <a:ext cx="2077802" cy="3654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816" y="0"/>
            <a:ext cx="3097721" cy="77152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84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84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84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84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4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322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322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322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322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22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760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760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60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760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760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198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198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198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198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198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636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636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636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6636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6636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954226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954226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954226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082402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082402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082402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21057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21057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21057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33875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33875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3875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46692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46692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46692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5105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5105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595105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723281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723281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723281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85145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85145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85145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97963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97963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97963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310780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310780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10780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3235984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235984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235984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70929" y="2592375"/>
            <a:ext cx="5843905" cy="2451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700"/>
              </a:lnSpc>
              <a:spcBef>
                <a:spcPts val="95"/>
              </a:spcBef>
            </a:pPr>
            <a:r>
              <a:rPr dirty="0" sz="1550" spc="20">
                <a:solidFill>
                  <a:srgbClr val="414141"/>
                </a:solidFill>
                <a:latin typeface="Microsoft Sans Serif"/>
                <a:cs typeface="Microsoft Sans Serif"/>
              </a:rPr>
              <a:t>To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e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ectively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address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shortage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of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skilled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workforce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in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market,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 </a:t>
            </a:r>
            <a:r>
              <a:rPr dirty="0" sz="1550" spc="100">
                <a:solidFill>
                  <a:srgbClr val="414141"/>
                </a:solidFill>
                <a:latin typeface="Microsoft Sans Serif"/>
                <a:cs typeface="Microsoft Sans Serif"/>
              </a:rPr>
              <a:t>must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implement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targeted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recruitment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strategies, upskilling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programs,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partnerships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with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educational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institutions.</a:t>
            </a:r>
            <a:r>
              <a:rPr dirty="0" sz="1550" spc="-3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Focusing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90">
                <a:solidFill>
                  <a:srgbClr val="414141"/>
                </a:solidFill>
                <a:latin typeface="Microsoft Sans Serif"/>
                <a:cs typeface="Microsoft Sans Serif"/>
              </a:rPr>
              <a:t>on</a:t>
            </a:r>
            <a:r>
              <a:rPr dirty="0" sz="1550" spc="-3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proactive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talent</a:t>
            </a:r>
            <a:r>
              <a:rPr dirty="0" sz="1550" spc="-3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planning </a:t>
            </a:r>
            <a:r>
              <a:rPr dirty="0" sz="1550" spc="-39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development can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help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organizations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overcome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challenges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posed by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current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labor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market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dynamics,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ensuring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sustainable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growth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competitive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advantage.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870182" y="745215"/>
            <a:ext cx="5700395" cy="73279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0"/>
              </a:spcBef>
            </a:pPr>
            <a:r>
              <a:rPr dirty="0" sz="2300" spc="170"/>
              <a:t>2</a:t>
            </a:r>
            <a:r>
              <a:rPr dirty="0" sz="2300" spc="-20"/>
              <a:t>.</a:t>
            </a:r>
            <a:r>
              <a:rPr dirty="0" sz="2300" spc="-370"/>
              <a:t> </a:t>
            </a:r>
            <a:r>
              <a:rPr dirty="0" sz="2300" spc="300"/>
              <a:t>C</a:t>
            </a:r>
            <a:r>
              <a:rPr dirty="0" sz="2300" spc="175"/>
              <a:t>u</a:t>
            </a:r>
            <a:r>
              <a:rPr dirty="0" sz="2300" spc="100"/>
              <a:t>r</a:t>
            </a:r>
            <a:r>
              <a:rPr dirty="0" sz="2300" spc="80"/>
              <a:t>r</a:t>
            </a:r>
            <a:r>
              <a:rPr dirty="0" sz="2300" spc="260"/>
              <a:t>e</a:t>
            </a:r>
            <a:r>
              <a:rPr dirty="0" sz="2300" spc="175"/>
              <a:t>n</a:t>
            </a:r>
            <a:r>
              <a:rPr dirty="0" sz="2300" spc="180"/>
              <a:t>t</a:t>
            </a:r>
            <a:r>
              <a:rPr dirty="0" sz="2300" spc="-370"/>
              <a:t> </a:t>
            </a:r>
            <a:r>
              <a:rPr dirty="0" sz="2300" spc="300"/>
              <a:t>C</a:t>
            </a:r>
            <a:r>
              <a:rPr dirty="0" sz="2300" spc="175"/>
              <a:t>h</a:t>
            </a:r>
            <a:r>
              <a:rPr dirty="0" sz="2300" spc="250"/>
              <a:t>a</a:t>
            </a:r>
            <a:r>
              <a:rPr dirty="0" sz="2300" spc="150"/>
              <a:t>ll</a:t>
            </a:r>
            <a:r>
              <a:rPr dirty="0" sz="2300" spc="260"/>
              <a:t>e</a:t>
            </a:r>
            <a:r>
              <a:rPr dirty="0" sz="2300" spc="175"/>
              <a:t>n</a:t>
            </a:r>
            <a:r>
              <a:rPr dirty="0" sz="2300" spc="195"/>
              <a:t>g</a:t>
            </a:r>
            <a:r>
              <a:rPr dirty="0" sz="2300" spc="260"/>
              <a:t>e</a:t>
            </a:r>
            <a:r>
              <a:rPr dirty="0" sz="2300" spc="295"/>
              <a:t>s</a:t>
            </a:r>
            <a:r>
              <a:rPr dirty="0" sz="2300" spc="-229"/>
              <a:t>:</a:t>
            </a:r>
            <a:r>
              <a:rPr dirty="0" sz="2300" spc="-370"/>
              <a:t> </a:t>
            </a:r>
            <a:r>
              <a:rPr dirty="0" sz="2300" spc="195"/>
              <a:t>S</a:t>
            </a:r>
            <a:r>
              <a:rPr dirty="0" sz="2300" spc="175"/>
              <a:t>h</a:t>
            </a:r>
            <a:r>
              <a:rPr dirty="0" sz="2300" spc="235"/>
              <a:t>o</a:t>
            </a:r>
            <a:r>
              <a:rPr dirty="0" sz="2300" spc="100"/>
              <a:t>r</a:t>
            </a:r>
            <a:r>
              <a:rPr dirty="0" sz="2300" spc="175"/>
              <a:t>t</a:t>
            </a:r>
            <a:r>
              <a:rPr dirty="0" sz="2300" spc="250"/>
              <a:t>a</a:t>
            </a:r>
            <a:r>
              <a:rPr dirty="0" sz="2300" spc="195"/>
              <a:t>g</a:t>
            </a:r>
            <a:r>
              <a:rPr dirty="0" sz="2300" spc="265"/>
              <a:t>e</a:t>
            </a:r>
            <a:r>
              <a:rPr dirty="0" sz="2300" spc="-370"/>
              <a:t> </a:t>
            </a:r>
            <a:r>
              <a:rPr dirty="0" sz="2300" spc="235"/>
              <a:t>o</a:t>
            </a:r>
            <a:r>
              <a:rPr dirty="0" sz="2300" spc="145"/>
              <a:t>f  </a:t>
            </a:r>
            <a:r>
              <a:rPr dirty="0" sz="2300" spc="295"/>
              <a:t>s</a:t>
            </a:r>
            <a:r>
              <a:rPr dirty="0" sz="2300" spc="270"/>
              <a:t>k</a:t>
            </a:r>
            <a:r>
              <a:rPr dirty="0" sz="2300" spc="150"/>
              <a:t>ill</a:t>
            </a:r>
            <a:r>
              <a:rPr dirty="0" sz="2300" spc="260"/>
              <a:t>e</a:t>
            </a:r>
            <a:r>
              <a:rPr dirty="0" sz="2300" spc="204"/>
              <a:t>d</a:t>
            </a:r>
            <a:r>
              <a:rPr dirty="0" sz="2300" spc="-370"/>
              <a:t> </a:t>
            </a:r>
            <a:r>
              <a:rPr dirty="0" sz="2300" spc="430"/>
              <a:t>w</a:t>
            </a:r>
            <a:r>
              <a:rPr dirty="0" sz="2300" spc="235"/>
              <a:t>o</a:t>
            </a:r>
            <a:r>
              <a:rPr dirty="0" sz="2300" spc="100"/>
              <a:t>r</a:t>
            </a:r>
            <a:r>
              <a:rPr dirty="0" sz="2300" spc="270"/>
              <a:t>k</a:t>
            </a:r>
            <a:r>
              <a:rPr dirty="0" sz="2300" spc="130"/>
              <a:t>f</a:t>
            </a:r>
            <a:r>
              <a:rPr dirty="0" sz="2300" spc="235"/>
              <a:t>o</a:t>
            </a:r>
            <a:r>
              <a:rPr dirty="0" sz="2300" spc="80"/>
              <a:t>r</a:t>
            </a:r>
            <a:r>
              <a:rPr dirty="0" sz="2300" spc="434"/>
              <a:t>c</a:t>
            </a:r>
            <a:r>
              <a:rPr dirty="0" sz="2300" spc="265"/>
              <a:t>e</a:t>
            </a:r>
            <a:r>
              <a:rPr dirty="0" sz="2300" spc="-370"/>
              <a:t> </a:t>
            </a:r>
            <a:r>
              <a:rPr dirty="0" sz="2300" spc="150"/>
              <a:t>i</a:t>
            </a:r>
            <a:r>
              <a:rPr dirty="0" sz="2300" spc="180"/>
              <a:t>n</a:t>
            </a:r>
            <a:r>
              <a:rPr dirty="0" sz="2300" spc="-370"/>
              <a:t> </a:t>
            </a:r>
            <a:r>
              <a:rPr dirty="0" sz="2300" spc="175"/>
              <a:t>t</a:t>
            </a:r>
            <a:r>
              <a:rPr dirty="0" sz="2300" spc="175"/>
              <a:t>h</a:t>
            </a:r>
            <a:r>
              <a:rPr dirty="0" sz="2300" spc="265"/>
              <a:t>e</a:t>
            </a:r>
            <a:r>
              <a:rPr dirty="0" sz="2300" spc="-370"/>
              <a:t> </a:t>
            </a:r>
            <a:r>
              <a:rPr dirty="0" sz="2300" spc="215"/>
              <a:t>m</a:t>
            </a:r>
            <a:r>
              <a:rPr dirty="0" sz="2300" spc="250"/>
              <a:t>a</a:t>
            </a:r>
            <a:r>
              <a:rPr dirty="0" sz="2300" spc="100"/>
              <a:t>r</a:t>
            </a:r>
            <a:r>
              <a:rPr dirty="0" sz="2300" spc="200"/>
              <a:t>k</a:t>
            </a:r>
            <a:r>
              <a:rPr dirty="0" sz="2300" spc="260"/>
              <a:t>e</a:t>
            </a:r>
            <a:r>
              <a:rPr dirty="0" sz="2300" spc="180"/>
              <a:t>t</a:t>
            </a:r>
            <a:endParaRPr sz="2300"/>
          </a:p>
        </p:txBody>
      </p:sp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47871" y="7197328"/>
            <a:ext cx="2077802" cy="3654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816" y="0"/>
            <a:ext cx="3097721" cy="77152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84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84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84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84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4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322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322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322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322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22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760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760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60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760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760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198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198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198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198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198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636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636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636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6636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6636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954226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954226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954226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082402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082402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082402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21057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21057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21057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33875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33875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3875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46692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46692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46692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5105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5105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595105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723281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723281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723281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85145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85145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85145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97963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97963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97963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310780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310780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10780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3235984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235984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235984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70929" y="2592434"/>
            <a:ext cx="6149340" cy="2105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79425">
              <a:lnSpc>
                <a:spcPct val="146700"/>
              </a:lnSpc>
              <a:spcBef>
                <a:spcPts val="95"/>
              </a:spcBef>
            </a:pPr>
            <a:r>
              <a:rPr dirty="0" sz="1550" spc="114">
                <a:solidFill>
                  <a:srgbClr val="414141"/>
                </a:solidFill>
                <a:latin typeface="Microsoft Sans Serif"/>
                <a:cs typeface="Microsoft Sans Serif"/>
              </a:rPr>
              <a:t>By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understanding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industry-speci </a:t>
            </a:r>
            <a:r>
              <a:rPr dirty="0" sz="1550" spc="95">
                <a:solidFill>
                  <a:srgbClr val="414141"/>
                </a:solidFill>
                <a:latin typeface="Microsoft Sans Serif"/>
                <a:cs typeface="Microsoft Sans Serif"/>
              </a:rPr>
              <a:t>c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requirements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recognizing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35">
                <a:solidFill>
                  <a:srgbClr val="414141"/>
                </a:solidFill>
                <a:latin typeface="Microsoft Sans Serif"/>
                <a:cs typeface="Microsoft Sans Serif"/>
              </a:rPr>
              <a:t>skill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gaps,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tailor</a:t>
            </a:r>
            <a:r>
              <a:rPr dirty="0" sz="1550" spc="-8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recruitment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-39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upskilling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programs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to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95">
                <a:solidFill>
                  <a:srgbClr val="414141"/>
                </a:solidFill>
                <a:latin typeface="Microsoft Sans Serif"/>
                <a:cs typeface="Microsoft Sans Serif"/>
              </a:rPr>
              <a:t>meet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90">
                <a:solidFill>
                  <a:srgbClr val="414141"/>
                </a:solidFill>
                <a:latin typeface="Microsoft Sans Serif"/>
                <a:cs typeface="Microsoft Sans Serif"/>
              </a:rPr>
              <a:t>demands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of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market.</a:t>
            </a:r>
            <a:endParaRPr sz="1550">
              <a:latin typeface="Microsoft Sans Serif"/>
              <a:cs typeface="Microsoft Sans Serif"/>
            </a:endParaRPr>
          </a:p>
          <a:p>
            <a:pPr marL="12700" marR="5080">
              <a:lnSpc>
                <a:spcPct val="146700"/>
              </a:lnSpc>
            </a:pP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Addressing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these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speci </a:t>
            </a:r>
            <a:r>
              <a:rPr dirty="0" sz="1550" spc="95">
                <a:solidFill>
                  <a:srgbClr val="414141"/>
                </a:solidFill>
                <a:latin typeface="Microsoft Sans Serif"/>
                <a:cs typeface="Microsoft Sans Serif"/>
              </a:rPr>
              <a:t>c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needs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through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strategic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solutions </a:t>
            </a:r>
            <a:r>
              <a:rPr dirty="0" sz="1550" spc="30">
                <a:solidFill>
                  <a:srgbClr val="414141"/>
                </a:solidFill>
                <a:latin typeface="Microsoft Sans Serif"/>
                <a:cs typeface="Microsoft Sans Serif"/>
              </a:rPr>
              <a:t>will </a:t>
            </a:r>
            <a:r>
              <a:rPr dirty="0" sz="1550" spc="3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empower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with a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skilled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labor </a:t>
            </a:r>
            <a:r>
              <a:rPr dirty="0" sz="1550" spc="35">
                <a:solidFill>
                  <a:srgbClr val="414141"/>
                </a:solidFill>
                <a:latin typeface="Microsoft Sans Serif"/>
                <a:cs typeface="Microsoft Sans Serif"/>
              </a:rPr>
              <a:t>supply,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ensuring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they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remain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competitive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adaptable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in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an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ever-evolving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landscape.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870182" y="745222"/>
            <a:ext cx="5869305" cy="108585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0"/>
              </a:spcBef>
            </a:pPr>
            <a:r>
              <a:rPr dirty="0" sz="2300" spc="170"/>
              <a:t>3</a:t>
            </a:r>
            <a:r>
              <a:rPr dirty="0" sz="2300" spc="-20"/>
              <a:t>.</a:t>
            </a:r>
            <a:r>
              <a:rPr dirty="0" sz="2300" spc="-370"/>
              <a:t> </a:t>
            </a:r>
            <a:r>
              <a:rPr dirty="0" sz="2300" spc="355"/>
              <a:t>U</a:t>
            </a:r>
            <a:r>
              <a:rPr dirty="0" sz="2300" spc="175"/>
              <a:t>n</a:t>
            </a:r>
            <a:r>
              <a:rPr dirty="0" sz="2300" spc="200"/>
              <a:t>d</a:t>
            </a:r>
            <a:r>
              <a:rPr dirty="0" sz="2300" spc="260"/>
              <a:t>e</a:t>
            </a:r>
            <a:r>
              <a:rPr dirty="0" sz="2300" spc="100"/>
              <a:t>r</a:t>
            </a:r>
            <a:r>
              <a:rPr dirty="0" sz="2300" spc="295"/>
              <a:t>s</a:t>
            </a:r>
            <a:r>
              <a:rPr dirty="0" sz="2300" spc="175"/>
              <a:t>t</a:t>
            </a:r>
            <a:r>
              <a:rPr dirty="0" sz="2300" spc="250"/>
              <a:t>a</a:t>
            </a:r>
            <a:r>
              <a:rPr dirty="0" sz="2300" spc="175"/>
              <a:t>n</a:t>
            </a:r>
            <a:r>
              <a:rPr dirty="0" sz="2300" spc="200"/>
              <a:t>d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200"/>
              <a:t>g</a:t>
            </a:r>
            <a:r>
              <a:rPr dirty="0" sz="2300" spc="-370"/>
              <a:t> </a:t>
            </a:r>
            <a:r>
              <a:rPr dirty="0" sz="2300" spc="175"/>
              <a:t>t</a:t>
            </a:r>
            <a:r>
              <a:rPr dirty="0" sz="2300" spc="175"/>
              <a:t>h</a:t>
            </a:r>
            <a:r>
              <a:rPr dirty="0" sz="2300" spc="265"/>
              <a:t>e</a:t>
            </a:r>
            <a:r>
              <a:rPr dirty="0" sz="2300" spc="-370"/>
              <a:t> </a:t>
            </a:r>
            <a:r>
              <a:rPr dirty="0" sz="2300" spc="130"/>
              <a:t>D</a:t>
            </a:r>
            <a:r>
              <a:rPr dirty="0" sz="2300" spc="260"/>
              <a:t>e</a:t>
            </a:r>
            <a:r>
              <a:rPr dirty="0" sz="2300" spc="215"/>
              <a:t>m</a:t>
            </a:r>
            <a:r>
              <a:rPr dirty="0" sz="2300" spc="250"/>
              <a:t>a</a:t>
            </a:r>
            <a:r>
              <a:rPr dirty="0" sz="2300" spc="175"/>
              <a:t>n</a:t>
            </a:r>
            <a:r>
              <a:rPr dirty="0" sz="2300" spc="200"/>
              <a:t>d</a:t>
            </a:r>
            <a:r>
              <a:rPr dirty="0" sz="2300" spc="-195"/>
              <a:t>:  </a:t>
            </a:r>
            <a:r>
              <a:rPr dirty="0" sz="2300" spc="-70"/>
              <a:t>I</a:t>
            </a:r>
            <a:r>
              <a:rPr dirty="0" sz="2300" spc="175"/>
              <a:t>n</a:t>
            </a:r>
            <a:r>
              <a:rPr dirty="0" sz="2300" spc="200"/>
              <a:t>d</a:t>
            </a:r>
            <a:r>
              <a:rPr dirty="0" sz="2300" spc="175"/>
              <a:t>u</a:t>
            </a:r>
            <a:r>
              <a:rPr dirty="0" sz="2300" spc="295"/>
              <a:t>s</a:t>
            </a:r>
            <a:r>
              <a:rPr dirty="0" sz="2300" spc="175"/>
              <a:t>t</a:t>
            </a:r>
            <a:r>
              <a:rPr dirty="0" sz="2300" spc="100"/>
              <a:t>r</a:t>
            </a:r>
            <a:r>
              <a:rPr dirty="0" sz="2300" spc="135"/>
              <a:t>y</a:t>
            </a:r>
            <a:r>
              <a:rPr dirty="0" sz="2300" spc="-229"/>
              <a:t>-</a:t>
            </a:r>
            <a:r>
              <a:rPr dirty="0" sz="2300" spc="295"/>
              <a:t>s</a:t>
            </a:r>
            <a:r>
              <a:rPr dirty="0" sz="2300" spc="200"/>
              <a:t>p</a:t>
            </a:r>
            <a:r>
              <a:rPr dirty="0" sz="2300" spc="260"/>
              <a:t>e</a:t>
            </a:r>
            <a:r>
              <a:rPr dirty="0" sz="2300" spc="434"/>
              <a:t>c</a:t>
            </a:r>
            <a:r>
              <a:rPr dirty="0" sz="2300" spc="150"/>
              <a:t>i</a:t>
            </a:r>
            <a:r>
              <a:rPr dirty="0" sz="2300" spc="925"/>
              <a:t> </a:t>
            </a:r>
            <a:r>
              <a:rPr dirty="0" sz="2300" spc="440"/>
              <a:t>c</a:t>
            </a:r>
            <a:r>
              <a:rPr dirty="0" sz="2300" spc="-370"/>
              <a:t> </a:t>
            </a:r>
            <a:r>
              <a:rPr dirty="0" sz="2300" spc="80"/>
              <a:t>r</a:t>
            </a:r>
            <a:r>
              <a:rPr dirty="0" sz="2300" spc="260"/>
              <a:t>e</a:t>
            </a:r>
            <a:r>
              <a:rPr dirty="0" sz="2300" spc="200"/>
              <a:t>q</a:t>
            </a:r>
            <a:r>
              <a:rPr dirty="0" sz="2300" spc="175"/>
              <a:t>u</a:t>
            </a:r>
            <a:r>
              <a:rPr dirty="0" sz="2300" spc="150"/>
              <a:t>i</a:t>
            </a:r>
            <a:r>
              <a:rPr dirty="0" sz="2300" spc="80"/>
              <a:t>r</a:t>
            </a:r>
            <a:r>
              <a:rPr dirty="0" sz="2300" spc="260"/>
              <a:t>e</a:t>
            </a:r>
            <a:r>
              <a:rPr dirty="0" sz="2300" spc="215"/>
              <a:t>m</a:t>
            </a:r>
            <a:r>
              <a:rPr dirty="0" sz="2300" spc="260"/>
              <a:t>e</a:t>
            </a:r>
            <a:r>
              <a:rPr dirty="0" sz="2300" spc="175"/>
              <a:t>n</a:t>
            </a:r>
            <a:r>
              <a:rPr dirty="0" sz="2300" spc="175"/>
              <a:t>t</a:t>
            </a:r>
            <a:r>
              <a:rPr dirty="0" sz="2300" spc="300"/>
              <a:t>s</a:t>
            </a:r>
            <a:r>
              <a:rPr dirty="0" sz="2300" spc="-370"/>
              <a:t> </a:t>
            </a:r>
            <a:r>
              <a:rPr dirty="0" sz="2300" spc="250"/>
              <a:t>a</a:t>
            </a:r>
            <a:r>
              <a:rPr dirty="0" sz="2300" spc="175"/>
              <a:t>n</a:t>
            </a:r>
            <a:r>
              <a:rPr dirty="0" sz="2300" spc="145"/>
              <a:t>d  </a:t>
            </a:r>
            <a:r>
              <a:rPr dirty="0" sz="2300" spc="295"/>
              <a:t>s</a:t>
            </a:r>
            <a:r>
              <a:rPr dirty="0" sz="2300" spc="270"/>
              <a:t>k</a:t>
            </a:r>
            <a:r>
              <a:rPr dirty="0" sz="2300" spc="150"/>
              <a:t>ill</a:t>
            </a:r>
            <a:r>
              <a:rPr dirty="0" sz="2300" spc="-370"/>
              <a:t> </a:t>
            </a:r>
            <a:r>
              <a:rPr dirty="0" sz="2300" spc="195"/>
              <a:t>g</a:t>
            </a:r>
            <a:r>
              <a:rPr dirty="0" sz="2300" spc="250"/>
              <a:t>a</a:t>
            </a:r>
            <a:r>
              <a:rPr dirty="0" sz="2300" spc="200"/>
              <a:t>p</a:t>
            </a:r>
            <a:r>
              <a:rPr dirty="0" sz="2300" spc="300"/>
              <a:t>s</a:t>
            </a:r>
            <a:endParaRPr sz="2300"/>
          </a:p>
        </p:txBody>
      </p:sp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47871" y="7197328"/>
            <a:ext cx="2077802" cy="3654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816" y="0"/>
            <a:ext cx="2995429" cy="77152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84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84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84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84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4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322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322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322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322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22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760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760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60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760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760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198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198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198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198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198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636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636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636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6636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6636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954226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954226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954226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082402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082402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082402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21057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21057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21057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33875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33875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3875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46692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46692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46692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5105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5105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595105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723281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723281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723281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85145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85145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85145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97963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97963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97963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310780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310780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10780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3235984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235984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235984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70929" y="2592375"/>
            <a:ext cx="5935980" cy="2451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700"/>
              </a:lnSpc>
              <a:spcBef>
                <a:spcPts val="95"/>
              </a:spcBef>
            </a:pP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Strategic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partnerships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with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educational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institutions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training </a:t>
            </a:r>
            <a:r>
              <a:rPr dirty="0" sz="1550" spc="-39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centers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provide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with a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valuable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resource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for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cultivating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skilled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labor </a:t>
            </a:r>
            <a:r>
              <a:rPr dirty="0" sz="1550" spc="35">
                <a:solidFill>
                  <a:srgbClr val="414141"/>
                </a:solidFill>
                <a:latin typeface="Microsoft Sans Serif"/>
                <a:cs typeface="Microsoft Sans Serif"/>
              </a:rPr>
              <a:t>supply. </a:t>
            </a:r>
            <a:r>
              <a:rPr dirty="0" sz="1550" spc="114">
                <a:solidFill>
                  <a:srgbClr val="414141"/>
                </a:solidFill>
                <a:latin typeface="Microsoft Sans Serif"/>
                <a:cs typeface="Microsoft Sans Serif"/>
              </a:rPr>
              <a:t>By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collaborating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with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these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institutions,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access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specialized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training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programs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tailored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to </a:t>
            </a:r>
            <a:r>
              <a:rPr dirty="0" sz="1550" spc="95">
                <a:solidFill>
                  <a:srgbClr val="414141"/>
                </a:solidFill>
                <a:latin typeface="Microsoft Sans Serif"/>
                <a:cs typeface="Microsoft Sans Serif"/>
              </a:rPr>
              <a:t>meet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industry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demands,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facilitating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development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of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talented workforce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that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aligns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with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evolving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market</a:t>
            </a:r>
            <a:r>
              <a:rPr dirty="0" sz="1550" spc="-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needs.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870182" y="748967"/>
            <a:ext cx="5353050" cy="1081405"/>
          </a:xfrm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0"/>
              </a:spcBef>
            </a:pPr>
            <a:r>
              <a:rPr dirty="0" sz="2300" spc="170"/>
              <a:t>4</a:t>
            </a:r>
            <a:r>
              <a:rPr dirty="0" sz="2300" spc="-20"/>
              <a:t>.</a:t>
            </a:r>
            <a:r>
              <a:rPr dirty="0" sz="2300" spc="-370"/>
              <a:t> </a:t>
            </a:r>
            <a:r>
              <a:rPr dirty="0" sz="2300" spc="195"/>
              <a:t>S</a:t>
            </a:r>
            <a:r>
              <a:rPr dirty="0" sz="2300" spc="175"/>
              <a:t>t</a:t>
            </a:r>
            <a:r>
              <a:rPr dirty="0" sz="2300" spc="80"/>
              <a:t>r</a:t>
            </a:r>
            <a:r>
              <a:rPr dirty="0" sz="2300" spc="250"/>
              <a:t>a</a:t>
            </a:r>
            <a:r>
              <a:rPr dirty="0" sz="2300" spc="175"/>
              <a:t>t</a:t>
            </a:r>
            <a:r>
              <a:rPr dirty="0" sz="2300" spc="260"/>
              <a:t>e</a:t>
            </a:r>
            <a:r>
              <a:rPr dirty="0" sz="2300" spc="195"/>
              <a:t>g</a:t>
            </a:r>
            <a:r>
              <a:rPr dirty="0" sz="2300" spc="150"/>
              <a:t>i</a:t>
            </a:r>
            <a:r>
              <a:rPr dirty="0" sz="2300" spc="440"/>
              <a:t>c</a:t>
            </a:r>
            <a:r>
              <a:rPr dirty="0" sz="2300" spc="-370"/>
              <a:t> </a:t>
            </a:r>
            <a:r>
              <a:rPr dirty="0" sz="2300" spc="335"/>
              <a:t>P</a:t>
            </a:r>
            <a:r>
              <a:rPr dirty="0" sz="2300" spc="250"/>
              <a:t>a</a:t>
            </a:r>
            <a:r>
              <a:rPr dirty="0" sz="2300" spc="100"/>
              <a:t>r</a:t>
            </a:r>
            <a:r>
              <a:rPr dirty="0" sz="2300" spc="175"/>
              <a:t>t</a:t>
            </a:r>
            <a:r>
              <a:rPr dirty="0" sz="2300" spc="175"/>
              <a:t>n</a:t>
            </a:r>
            <a:r>
              <a:rPr dirty="0" sz="2300" spc="260"/>
              <a:t>e</a:t>
            </a:r>
            <a:r>
              <a:rPr dirty="0" sz="2300" spc="100"/>
              <a:t>r</a:t>
            </a:r>
            <a:r>
              <a:rPr dirty="0" sz="2300" spc="295"/>
              <a:t>s</a:t>
            </a:r>
            <a:r>
              <a:rPr dirty="0" sz="2300" spc="175"/>
              <a:t>h</a:t>
            </a:r>
            <a:r>
              <a:rPr dirty="0" sz="2300" spc="150"/>
              <a:t>i</a:t>
            </a:r>
            <a:r>
              <a:rPr dirty="0" sz="2300" spc="200"/>
              <a:t>p</a:t>
            </a:r>
            <a:r>
              <a:rPr dirty="0" sz="2300" spc="295"/>
              <a:t>s</a:t>
            </a:r>
            <a:r>
              <a:rPr dirty="0" sz="2300" spc="-195"/>
              <a:t>:  </a:t>
            </a:r>
            <a:r>
              <a:rPr dirty="0" sz="2300" spc="300"/>
              <a:t>C</a:t>
            </a:r>
            <a:r>
              <a:rPr dirty="0" sz="2300" spc="235"/>
              <a:t>o</a:t>
            </a:r>
            <a:r>
              <a:rPr dirty="0" sz="2300" spc="150"/>
              <a:t>ll</a:t>
            </a:r>
            <a:r>
              <a:rPr dirty="0" sz="2300" spc="250"/>
              <a:t>a</a:t>
            </a:r>
            <a:r>
              <a:rPr dirty="0" sz="2300" spc="200"/>
              <a:t>b</a:t>
            </a:r>
            <a:r>
              <a:rPr dirty="0" sz="2300" spc="235"/>
              <a:t>o</a:t>
            </a:r>
            <a:r>
              <a:rPr dirty="0" sz="2300" spc="80"/>
              <a:t>r</a:t>
            </a:r>
            <a:r>
              <a:rPr dirty="0" sz="2300" spc="250"/>
              <a:t>a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200"/>
              <a:t>g</a:t>
            </a:r>
            <a:r>
              <a:rPr dirty="0" sz="2300" spc="-370"/>
              <a:t> </a:t>
            </a:r>
            <a:r>
              <a:rPr dirty="0" sz="2300" spc="430"/>
              <a:t>w</a:t>
            </a:r>
            <a:r>
              <a:rPr dirty="0" sz="2300" spc="150"/>
              <a:t>i</a:t>
            </a:r>
            <a:r>
              <a:rPr dirty="0" sz="2300" spc="175"/>
              <a:t>t</a:t>
            </a:r>
            <a:r>
              <a:rPr dirty="0" sz="2300" spc="180"/>
              <a:t>h</a:t>
            </a:r>
            <a:r>
              <a:rPr dirty="0" sz="2300" spc="-370"/>
              <a:t> </a:t>
            </a:r>
            <a:r>
              <a:rPr dirty="0" sz="2300" spc="260"/>
              <a:t>e</a:t>
            </a:r>
            <a:r>
              <a:rPr dirty="0" sz="2300" spc="200"/>
              <a:t>d</a:t>
            </a:r>
            <a:r>
              <a:rPr dirty="0" sz="2300" spc="175"/>
              <a:t>u</a:t>
            </a:r>
            <a:r>
              <a:rPr dirty="0" sz="2300" spc="434"/>
              <a:t>c</a:t>
            </a:r>
            <a:r>
              <a:rPr dirty="0" sz="2300" spc="250"/>
              <a:t>a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235"/>
              <a:t>o</a:t>
            </a:r>
            <a:r>
              <a:rPr dirty="0" sz="2300" spc="175"/>
              <a:t>n</a:t>
            </a:r>
            <a:r>
              <a:rPr dirty="0" sz="2300" spc="250"/>
              <a:t>a</a:t>
            </a:r>
            <a:r>
              <a:rPr dirty="0" sz="2300" spc="170"/>
              <a:t>l  i</a:t>
            </a:r>
            <a:r>
              <a:rPr dirty="0" sz="2300" spc="175"/>
              <a:t>n</a:t>
            </a:r>
            <a:r>
              <a:rPr dirty="0" sz="2300" spc="295"/>
              <a:t>s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175"/>
              <a:t>t</a:t>
            </a:r>
            <a:r>
              <a:rPr dirty="0" sz="2300" spc="175"/>
              <a:t>u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235"/>
              <a:t>o</a:t>
            </a:r>
            <a:r>
              <a:rPr dirty="0" sz="2300" spc="175"/>
              <a:t>n</a:t>
            </a:r>
            <a:r>
              <a:rPr dirty="0" sz="2300" spc="300"/>
              <a:t>s</a:t>
            </a:r>
            <a:r>
              <a:rPr dirty="0" sz="2300" spc="-370"/>
              <a:t> </a:t>
            </a:r>
            <a:r>
              <a:rPr dirty="0" sz="2300" spc="250"/>
              <a:t>a</a:t>
            </a:r>
            <a:r>
              <a:rPr dirty="0" sz="2300" spc="175"/>
              <a:t>n</a:t>
            </a:r>
            <a:r>
              <a:rPr dirty="0" sz="2300" spc="204"/>
              <a:t>d</a:t>
            </a:r>
            <a:r>
              <a:rPr dirty="0" sz="2300" spc="-370"/>
              <a:t> </a:t>
            </a:r>
            <a:r>
              <a:rPr dirty="0" sz="2300" spc="175"/>
              <a:t>t</a:t>
            </a:r>
            <a:r>
              <a:rPr dirty="0" sz="2300" spc="80"/>
              <a:t>r</a:t>
            </a:r>
            <a:r>
              <a:rPr dirty="0" sz="2300" spc="250"/>
              <a:t>a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200"/>
              <a:t>g</a:t>
            </a:r>
            <a:r>
              <a:rPr dirty="0" sz="2300" spc="-370"/>
              <a:t> </a:t>
            </a:r>
            <a:r>
              <a:rPr dirty="0" sz="2300" spc="434"/>
              <a:t>c</a:t>
            </a:r>
            <a:r>
              <a:rPr dirty="0" sz="2300" spc="260"/>
              <a:t>e</a:t>
            </a:r>
            <a:r>
              <a:rPr dirty="0" sz="2300" spc="175"/>
              <a:t>n</a:t>
            </a:r>
            <a:r>
              <a:rPr dirty="0" sz="2300" spc="175"/>
              <a:t>t</a:t>
            </a:r>
            <a:r>
              <a:rPr dirty="0" sz="2300" spc="260"/>
              <a:t>e</a:t>
            </a:r>
            <a:r>
              <a:rPr dirty="0" sz="2300" spc="100"/>
              <a:t>r</a:t>
            </a:r>
            <a:r>
              <a:rPr dirty="0" sz="2300" spc="300"/>
              <a:t>s</a:t>
            </a:r>
            <a:endParaRPr sz="2300"/>
          </a:p>
        </p:txBody>
      </p:sp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47871" y="7197328"/>
            <a:ext cx="2077802" cy="3654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816" y="0"/>
            <a:ext cx="3097721" cy="77152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84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84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84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84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4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322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322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322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322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22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760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760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60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760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760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198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198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198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198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198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636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636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636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6636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6636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954226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954226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954226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082402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082402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082402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21057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21057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21057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33875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33875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3875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46692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46692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46692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5105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5105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595105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723281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723281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723281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85145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85145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85145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97963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97963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97963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310780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310780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10780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3235984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235984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235984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70929" y="2592434"/>
            <a:ext cx="6022340" cy="2105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700"/>
              </a:lnSpc>
              <a:spcBef>
                <a:spcPts val="95"/>
              </a:spcBef>
            </a:pP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5.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Upskilling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Initiatives: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Developing in-house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training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programs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for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existing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employees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allows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to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empower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their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workforce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stay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competitive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in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market. </a:t>
            </a:r>
            <a:r>
              <a:rPr dirty="0" sz="1550" spc="114">
                <a:solidFill>
                  <a:srgbClr val="414141"/>
                </a:solidFill>
                <a:latin typeface="Microsoft Sans Serif"/>
                <a:cs typeface="Microsoft Sans Serif"/>
              </a:rPr>
              <a:t>By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investing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in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continuous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learning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35">
                <a:solidFill>
                  <a:srgbClr val="414141"/>
                </a:solidFill>
                <a:latin typeface="Microsoft Sans Serif"/>
                <a:cs typeface="Microsoft Sans Serif"/>
              </a:rPr>
              <a:t>skill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development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for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employees,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</a:t>
            </a:r>
            <a:r>
              <a:rPr dirty="0" sz="1550" spc="-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cultivate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versatile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95">
                <a:solidFill>
                  <a:srgbClr val="414141"/>
                </a:solidFill>
                <a:latin typeface="Microsoft Sans Serif"/>
                <a:cs typeface="Microsoft Sans Serif"/>
              </a:rPr>
              <a:t>team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capable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of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adapting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to </a:t>
            </a:r>
            <a:r>
              <a:rPr dirty="0" sz="1550" spc="-40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industry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changes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driving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innovation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within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organization.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870182" y="745222"/>
            <a:ext cx="5869940" cy="108585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0"/>
              </a:spcBef>
            </a:pPr>
            <a:r>
              <a:rPr dirty="0" sz="2300" spc="170"/>
              <a:t>5</a:t>
            </a:r>
            <a:r>
              <a:rPr dirty="0" sz="2300" spc="-20"/>
              <a:t>.</a:t>
            </a:r>
            <a:r>
              <a:rPr dirty="0" sz="2300" spc="-370"/>
              <a:t> </a:t>
            </a:r>
            <a:r>
              <a:rPr dirty="0" sz="2300" spc="355"/>
              <a:t>U</a:t>
            </a:r>
            <a:r>
              <a:rPr dirty="0" sz="2300" spc="200"/>
              <a:t>p</a:t>
            </a:r>
            <a:r>
              <a:rPr dirty="0" sz="2300" spc="295"/>
              <a:t>s</a:t>
            </a:r>
            <a:r>
              <a:rPr dirty="0" sz="2300" spc="270"/>
              <a:t>k</a:t>
            </a:r>
            <a:r>
              <a:rPr dirty="0" sz="2300" spc="150"/>
              <a:t>illi</a:t>
            </a:r>
            <a:r>
              <a:rPr dirty="0" sz="2300" spc="175"/>
              <a:t>n</a:t>
            </a:r>
            <a:r>
              <a:rPr dirty="0" sz="2300" spc="200"/>
              <a:t>g</a:t>
            </a:r>
            <a:r>
              <a:rPr dirty="0" sz="2300" spc="-370"/>
              <a:t> </a:t>
            </a:r>
            <a:r>
              <a:rPr dirty="0" sz="2300" spc="-65"/>
              <a:t>I</a:t>
            </a:r>
            <a:r>
              <a:rPr dirty="0" sz="2300" spc="175"/>
              <a:t>n</a:t>
            </a:r>
            <a:r>
              <a:rPr dirty="0" sz="2300" spc="150"/>
              <a:t>i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250"/>
              <a:t>a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135"/>
              <a:t>v</a:t>
            </a:r>
            <a:r>
              <a:rPr dirty="0" sz="2300" spc="260"/>
              <a:t>e</a:t>
            </a:r>
            <a:r>
              <a:rPr dirty="0" sz="2300" spc="295"/>
              <a:t>s</a:t>
            </a:r>
            <a:r>
              <a:rPr dirty="0" sz="2300" spc="-229"/>
              <a:t>:</a:t>
            </a:r>
            <a:r>
              <a:rPr dirty="0" sz="2300" spc="-370"/>
              <a:t> </a:t>
            </a:r>
            <a:r>
              <a:rPr dirty="0" sz="2300" spc="130"/>
              <a:t>D</a:t>
            </a:r>
            <a:r>
              <a:rPr dirty="0" sz="2300" spc="260"/>
              <a:t>e</a:t>
            </a:r>
            <a:r>
              <a:rPr dirty="0" sz="2300" spc="135"/>
              <a:t>v</a:t>
            </a:r>
            <a:r>
              <a:rPr dirty="0" sz="2300" spc="260"/>
              <a:t>e</a:t>
            </a:r>
            <a:r>
              <a:rPr dirty="0" sz="2300" spc="150"/>
              <a:t>l</a:t>
            </a:r>
            <a:r>
              <a:rPr dirty="0" sz="2300" spc="235"/>
              <a:t>o</a:t>
            </a:r>
            <a:r>
              <a:rPr dirty="0" sz="2300" spc="200"/>
              <a:t>p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140"/>
              <a:t>g  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-229"/>
              <a:t>-</a:t>
            </a:r>
            <a:r>
              <a:rPr dirty="0" sz="2300" spc="175"/>
              <a:t>h</a:t>
            </a:r>
            <a:r>
              <a:rPr dirty="0" sz="2300" spc="235"/>
              <a:t>o</a:t>
            </a:r>
            <a:r>
              <a:rPr dirty="0" sz="2300" spc="175"/>
              <a:t>u</a:t>
            </a:r>
            <a:r>
              <a:rPr dirty="0" sz="2300" spc="295"/>
              <a:t>s</a:t>
            </a:r>
            <a:r>
              <a:rPr dirty="0" sz="2300" spc="265"/>
              <a:t>e</a:t>
            </a:r>
            <a:r>
              <a:rPr dirty="0" sz="2300" spc="-370"/>
              <a:t> </a:t>
            </a:r>
            <a:r>
              <a:rPr dirty="0" sz="2300" spc="175"/>
              <a:t>t</a:t>
            </a:r>
            <a:r>
              <a:rPr dirty="0" sz="2300" spc="80"/>
              <a:t>r</a:t>
            </a:r>
            <a:r>
              <a:rPr dirty="0" sz="2300" spc="250"/>
              <a:t>a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200"/>
              <a:t>g</a:t>
            </a:r>
            <a:r>
              <a:rPr dirty="0" sz="2300" spc="-370"/>
              <a:t> </a:t>
            </a:r>
            <a:r>
              <a:rPr dirty="0" sz="2300" spc="200"/>
              <a:t>p</a:t>
            </a:r>
            <a:r>
              <a:rPr dirty="0" sz="2300" spc="80"/>
              <a:t>r</a:t>
            </a:r>
            <a:r>
              <a:rPr dirty="0" sz="2300" spc="235"/>
              <a:t>o</a:t>
            </a:r>
            <a:r>
              <a:rPr dirty="0" sz="2300" spc="195"/>
              <a:t>g</a:t>
            </a:r>
            <a:r>
              <a:rPr dirty="0" sz="2300" spc="80"/>
              <a:t>r</a:t>
            </a:r>
            <a:r>
              <a:rPr dirty="0" sz="2300" spc="250"/>
              <a:t>a</a:t>
            </a:r>
            <a:r>
              <a:rPr dirty="0" sz="2300" spc="215"/>
              <a:t>m</a:t>
            </a:r>
            <a:r>
              <a:rPr dirty="0" sz="2300" spc="300"/>
              <a:t>s</a:t>
            </a:r>
            <a:r>
              <a:rPr dirty="0" sz="2300" spc="-370"/>
              <a:t> </a:t>
            </a:r>
            <a:r>
              <a:rPr dirty="0" sz="2300" spc="130"/>
              <a:t>f</a:t>
            </a:r>
            <a:r>
              <a:rPr dirty="0" sz="2300" spc="235"/>
              <a:t>o</a:t>
            </a:r>
            <a:r>
              <a:rPr dirty="0" sz="2300" spc="95"/>
              <a:t>r  </a:t>
            </a:r>
            <a:r>
              <a:rPr dirty="0" sz="2300" spc="250"/>
              <a:t>e</a:t>
            </a:r>
            <a:r>
              <a:rPr dirty="0" sz="2300" spc="270"/>
              <a:t>x</a:t>
            </a:r>
            <a:r>
              <a:rPr dirty="0" sz="2300" spc="150"/>
              <a:t>i</a:t>
            </a:r>
            <a:r>
              <a:rPr dirty="0" sz="2300" spc="295"/>
              <a:t>s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200"/>
              <a:t>g</a:t>
            </a:r>
            <a:r>
              <a:rPr dirty="0" sz="2300" spc="-370"/>
              <a:t> </a:t>
            </a:r>
            <a:r>
              <a:rPr dirty="0" sz="2300" spc="260"/>
              <a:t>e</a:t>
            </a:r>
            <a:r>
              <a:rPr dirty="0" sz="2300" spc="215"/>
              <a:t>m</a:t>
            </a:r>
            <a:r>
              <a:rPr dirty="0" sz="2300" spc="200"/>
              <a:t>p</a:t>
            </a:r>
            <a:r>
              <a:rPr dirty="0" sz="2300" spc="150"/>
              <a:t>l</a:t>
            </a:r>
            <a:r>
              <a:rPr dirty="0" sz="2300" spc="235"/>
              <a:t>o</a:t>
            </a:r>
            <a:r>
              <a:rPr dirty="0" sz="2300" spc="135"/>
              <a:t>y</a:t>
            </a:r>
            <a:r>
              <a:rPr dirty="0" sz="2300" spc="260"/>
              <a:t>ee</a:t>
            </a:r>
            <a:r>
              <a:rPr dirty="0" sz="2300" spc="300"/>
              <a:t>s</a:t>
            </a:r>
            <a:endParaRPr sz="2300"/>
          </a:p>
        </p:txBody>
      </p:sp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47871" y="7197328"/>
            <a:ext cx="2077802" cy="3654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816" y="0"/>
            <a:ext cx="2995429" cy="77152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84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84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84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84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4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322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322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322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322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22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760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760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60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760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760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198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198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198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198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198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636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636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636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6636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6636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954226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954226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954226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082402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082402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082402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21057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21057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21057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33875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33875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3875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46692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46692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46692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5105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5105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595105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723281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723281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723281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85145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85145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85145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97963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97963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97963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310780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310780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10780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3235984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235984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235984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70929" y="2592375"/>
            <a:ext cx="6122035" cy="2451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700"/>
              </a:lnSpc>
              <a:spcBef>
                <a:spcPts val="95"/>
              </a:spcBef>
            </a:pP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signi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cantly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enhance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company's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competitiveness.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Strategies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30">
                <a:solidFill>
                  <a:srgbClr val="414141"/>
                </a:solidFill>
                <a:latin typeface="Microsoft Sans Serif"/>
                <a:cs typeface="Microsoft Sans Serif"/>
              </a:rPr>
              <a:t>like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targeted</a:t>
            </a:r>
            <a:r>
              <a:rPr dirty="0" sz="1550" spc="-3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online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recruitment</a:t>
            </a:r>
            <a:r>
              <a:rPr dirty="0" sz="1550" spc="-3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campaigns,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partnering </a:t>
            </a:r>
            <a:r>
              <a:rPr dirty="0" sz="1550" spc="-39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with educational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institutions,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leveraging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social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media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platforms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for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talent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acquisition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help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access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skilled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labor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pool. </a:t>
            </a:r>
            <a:r>
              <a:rPr dirty="0" sz="1550" spc="114">
                <a:solidFill>
                  <a:srgbClr val="414141"/>
                </a:solidFill>
                <a:latin typeface="Microsoft Sans Serif"/>
                <a:cs typeface="Microsoft Sans Serif"/>
              </a:rPr>
              <a:t>By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adopting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proactive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approach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to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recruitment,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companies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ensure a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steady supply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of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capable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professionals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to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drive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organizational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growth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success.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870182" y="748967"/>
            <a:ext cx="5850255" cy="1081405"/>
          </a:xfrm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0"/>
              </a:spcBef>
            </a:pPr>
            <a:r>
              <a:rPr dirty="0" sz="2300" spc="170"/>
              <a:t>6</a:t>
            </a:r>
            <a:r>
              <a:rPr dirty="0" sz="2300" spc="-20"/>
              <a:t>.</a:t>
            </a:r>
            <a:r>
              <a:rPr dirty="0" sz="2300" spc="-370"/>
              <a:t> </a:t>
            </a:r>
            <a:r>
              <a:rPr dirty="0" sz="2300" spc="260"/>
              <a:t>R</a:t>
            </a:r>
            <a:r>
              <a:rPr dirty="0" sz="2300" spc="260"/>
              <a:t>e</a:t>
            </a:r>
            <a:r>
              <a:rPr dirty="0" sz="2300" spc="434"/>
              <a:t>c</a:t>
            </a:r>
            <a:r>
              <a:rPr dirty="0" sz="2300" spc="100"/>
              <a:t>r</a:t>
            </a:r>
            <a:r>
              <a:rPr dirty="0" sz="2300" spc="175"/>
              <a:t>u</a:t>
            </a:r>
            <a:r>
              <a:rPr dirty="0" sz="2300" spc="150"/>
              <a:t>i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200"/>
              <a:t>g</a:t>
            </a:r>
            <a:r>
              <a:rPr dirty="0" sz="2300" spc="-370"/>
              <a:t> </a:t>
            </a:r>
            <a:r>
              <a:rPr dirty="0" sz="2300" spc="195"/>
              <a:t>S</a:t>
            </a:r>
            <a:r>
              <a:rPr dirty="0" sz="2300" spc="175"/>
              <a:t>t</a:t>
            </a:r>
            <a:r>
              <a:rPr dirty="0" sz="2300" spc="80"/>
              <a:t>r</a:t>
            </a:r>
            <a:r>
              <a:rPr dirty="0" sz="2300" spc="250"/>
              <a:t>a</a:t>
            </a:r>
            <a:r>
              <a:rPr dirty="0" sz="2300" spc="175"/>
              <a:t>t</a:t>
            </a:r>
            <a:r>
              <a:rPr dirty="0" sz="2300" spc="260"/>
              <a:t>e</a:t>
            </a:r>
            <a:r>
              <a:rPr dirty="0" sz="2300" spc="195"/>
              <a:t>g</a:t>
            </a:r>
            <a:r>
              <a:rPr dirty="0" sz="2300" spc="150"/>
              <a:t>i</a:t>
            </a:r>
            <a:r>
              <a:rPr dirty="0" sz="2300" spc="260"/>
              <a:t>e</a:t>
            </a:r>
            <a:r>
              <a:rPr dirty="0" sz="2300" spc="295"/>
              <a:t>s</a:t>
            </a:r>
            <a:r>
              <a:rPr dirty="0" sz="2300" spc="-229"/>
              <a:t>:</a:t>
            </a:r>
            <a:r>
              <a:rPr dirty="0" sz="2300" spc="-370"/>
              <a:t> </a:t>
            </a:r>
            <a:r>
              <a:rPr dirty="0" sz="2300" spc="330"/>
              <a:t>A</a:t>
            </a:r>
            <a:r>
              <a:rPr dirty="0" sz="2300" spc="175"/>
              <a:t>tt</a:t>
            </a:r>
            <a:r>
              <a:rPr dirty="0" sz="2300" spc="80"/>
              <a:t>r</a:t>
            </a:r>
            <a:r>
              <a:rPr dirty="0" sz="2300" spc="250"/>
              <a:t>a</a:t>
            </a:r>
            <a:r>
              <a:rPr dirty="0" sz="2300" spc="434"/>
              <a:t>c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140"/>
              <a:t>g  </a:t>
            </a:r>
            <a:r>
              <a:rPr dirty="0" sz="2300" spc="175"/>
              <a:t>t</a:t>
            </a:r>
            <a:r>
              <a:rPr dirty="0" sz="2300" spc="235"/>
              <a:t>o</a:t>
            </a:r>
            <a:r>
              <a:rPr dirty="0" sz="2300" spc="204"/>
              <a:t>p</a:t>
            </a:r>
            <a:r>
              <a:rPr dirty="0" sz="2300" spc="-370"/>
              <a:t> </a:t>
            </a:r>
            <a:r>
              <a:rPr dirty="0" sz="2300" spc="175"/>
              <a:t>t</a:t>
            </a:r>
            <a:r>
              <a:rPr dirty="0" sz="2300" spc="250"/>
              <a:t>a</a:t>
            </a:r>
            <a:r>
              <a:rPr dirty="0" sz="2300" spc="150"/>
              <a:t>l</a:t>
            </a:r>
            <a:r>
              <a:rPr dirty="0" sz="2300" spc="260"/>
              <a:t>e</a:t>
            </a:r>
            <a:r>
              <a:rPr dirty="0" sz="2300" spc="175"/>
              <a:t>n</a:t>
            </a:r>
            <a:r>
              <a:rPr dirty="0" sz="2300" spc="180"/>
              <a:t>t</a:t>
            </a:r>
            <a:r>
              <a:rPr dirty="0" sz="2300" spc="-370"/>
              <a:t> </a:t>
            </a:r>
            <a:r>
              <a:rPr dirty="0" sz="2300" spc="175"/>
              <a:t>t</a:t>
            </a:r>
            <a:r>
              <a:rPr dirty="0" sz="2300" spc="175"/>
              <a:t>h</a:t>
            </a:r>
            <a:r>
              <a:rPr dirty="0" sz="2300" spc="80"/>
              <a:t>r</a:t>
            </a:r>
            <a:r>
              <a:rPr dirty="0" sz="2300" spc="235"/>
              <a:t>o</a:t>
            </a:r>
            <a:r>
              <a:rPr dirty="0" sz="2300" spc="175"/>
              <a:t>u</a:t>
            </a:r>
            <a:r>
              <a:rPr dirty="0" sz="2300" spc="195"/>
              <a:t>g</a:t>
            </a:r>
            <a:r>
              <a:rPr dirty="0" sz="2300" spc="180"/>
              <a:t>h</a:t>
            </a:r>
            <a:r>
              <a:rPr dirty="0" sz="2300" spc="-370"/>
              <a:t> </a:t>
            </a:r>
            <a:r>
              <a:rPr dirty="0" sz="2300" spc="150"/>
              <a:t>i</a:t>
            </a:r>
            <a:r>
              <a:rPr dirty="0" sz="2300" spc="175"/>
              <a:t>nn</a:t>
            </a:r>
            <a:r>
              <a:rPr dirty="0" sz="2300" spc="235"/>
              <a:t>o</a:t>
            </a:r>
            <a:r>
              <a:rPr dirty="0" sz="2300" spc="125"/>
              <a:t>v</a:t>
            </a:r>
            <a:r>
              <a:rPr dirty="0" sz="2300" spc="250"/>
              <a:t>a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135"/>
              <a:t>v</a:t>
            </a:r>
            <a:r>
              <a:rPr dirty="0" sz="2300" spc="195"/>
              <a:t>e  </a:t>
            </a:r>
            <a:r>
              <a:rPr dirty="0" sz="2300" spc="80"/>
              <a:t>r</a:t>
            </a:r>
            <a:r>
              <a:rPr dirty="0" sz="2300" spc="260"/>
              <a:t>e</a:t>
            </a:r>
            <a:r>
              <a:rPr dirty="0" sz="2300" spc="434"/>
              <a:t>c</a:t>
            </a:r>
            <a:r>
              <a:rPr dirty="0" sz="2300" spc="100"/>
              <a:t>r</a:t>
            </a:r>
            <a:r>
              <a:rPr dirty="0" sz="2300" spc="175"/>
              <a:t>u</a:t>
            </a:r>
            <a:r>
              <a:rPr dirty="0" sz="2300" spc="150"/>
              <a:t>i</a:t>
            </a:r>
            <a:r>
              <a:rPr dirty="0" sz="2300" spc="175"/>
              <a:t>t</a:t>
            </a:r>
            <a:r>
              <a:rPr dirty="0" sz="2300" spc="215"/>
              <a:t>m</a:t>
            </a:r>
            <a:r>
              <a:rPr dirty="0" sz="2300" spc="260"/>
              <a:t>e</a:t>
            </a:r>
            <a:r>
              <a:rPr dirty="0" sz="2300" spc="175"/>
              <a:t>n</a:t>
            </a:r>
            <a:r>
              <a:rPr dirty="0" sz="2300" spc="180"/>
              <a:t>t</a:t>
            </a:r>
            <a:r>
              <a:rPr dirty="0" sz="2300" spc="-370"/>
              <a:t> </a:t>
            </a:r>
            <a:r>
              <a:rPr dirty="0" sz="2300" spc="215"/>
              <a:t>m</a:t>
            </a:r>
            <a:r>
              <a:rPr dirty="0" sz="2300" spc="260"/>
              <a:t>e</a:t>
            </a:r>
            <a:r>
              <a:rPr dirty="0" sz="2300" spc="175"/>
              <a:t>t</a:t>
            </a:r>
            <a:r>
              <a:rPr dirty="0" sz="2300" spc="175"/>
              <a:t>h</a:t>
            </a:r>
            <a:r>
              <a:rPr dirty="0" sz="2300" spc="235"/>
              <a:t>o</a:t>
            </a:r>
            <a:r>
              <a:rPr dirty="0" sz="2300" spc="200"/>
              <a:t>d</a:t>
            </a:r>
            <a:r>
              <a:rPr dirty="0" sz="2300" spc="300"/>
              <a:t>s</a:t>
            </a:r>
            <a:endParaRPr sz="2300"/>
          </a:p>
        </p:txBody>
      </p:sp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47871" y="7197328"/>
            <a:ext cx="2077802" cy="3654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816" y="0"/>
            <a:ext cx="2996068" cy="77152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84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84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84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84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4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322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322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322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322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22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760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760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60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760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760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198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198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198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198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198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636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636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636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6636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6636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954226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954226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954226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082402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082402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082402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21057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21057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21057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33875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33875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3875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46692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46692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46692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5105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5105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595105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723281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723281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723281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85145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85145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85145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97963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97963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97963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310780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310780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10780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3235984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235984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235984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70929" y="2592375"/>
            <a:ext cx="6011545" cy="2451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700"/>
              </a:lnSpc>
              <a:spcBef>
                <a:spcPts val="95"/>
              </a:spcBef>
            </a:pP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Retention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e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orts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are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crucial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for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nurturing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skilled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labor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force.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Fostering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culture of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continuous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learning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growth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within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an </a:t>
            </a:r>
            <a:r>
              <a:rPr dirty="0" sz="1550" spc="-40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organization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help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retain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top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talent.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150">
                <a:solidFill>
                  <a:srgbClr val="414141"/>
                </a:solidFill>
                <a:latin typeface="Microsoft Sans Serif"/>
                <a:cs typeface="Microsoft Sans Serif"/>
              </a:rPr>
              <a:t>O</a:t>
            </a:r>
            <a:r>
              <a:rPr dirty="0" sz="1550" spc="48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ering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opportunities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for </a:t>
            </a:r>
            <a:r>
              <a:rPr dirty="0" sz="1550" spc="-40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professional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development, mentorship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programs,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regular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feedback</a:t>
            </a:r>
            <a:r>
              <a:rPr dirty="0" sz="1550" spc="-11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enhance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employee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engagement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satisfaction, </a:t>
            </a:r>
            <a:r>
              <a:rPr dirty="0" sz="1550" spc="-39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leading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to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higher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retention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rates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more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productive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workforce.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870182" y="745222"/>
            <a:ext cx="5674995" cy="108585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0"/>
              </a:spcBef>
            </a:pPr>
            <a:r>
              <a:rPr dirty="0" sz="2300" spc="-120"/>
              <a:t>7</a:t>
            </a:r>
            <a:r>
              <a:rPr dirty="0" sz="2300" spc="-20"/>
              <a:t>.</a:t>
            </a:r>
            <a:r>
              <a:rPr dirty="0" sz="2300" spc="-370"/>
              <a:t> </a:t>
            </a:r>
            <a:r>
              <a:rPr dirty="0" sz="2300" spc="260"/>
              <a:t>R</a:t>
            </a:r>
            <a:r>
              <a:rPr dirty="0" sz="2300" spc="260"/>
              <a:t>e</a:t>
            </a:r>
            <a:r>
              <a:rPr dirty="0" sz="2300" spc="175"/>
              <a:t>t</a:t>
            </a:r>
            <a:r>
              <a:rPr dirty="0" sz="2300" spc="260"/>
              <a:t>e</a:t>
            </a:r>
            <a:r>
              <a:rPr dirty="0" sz="2300" spc="175"/>
              <a:t>n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235"/>
              <a:t>o</a:t>
            </a:r>
            <a:r>
              <a:rPr dirty="0" sz="2300" spc="180"/>
              <a:t>n</a:t>
            </a:r>
            <a:r>
              <a:rPr dirty="0" sz="2300" spc="-370"/>
              <a:t> </a:t>
            </a:r>
            <a:r>
              <a:rPr dirty="0" sz="2300" spc="315"/>
              <a:t>E</a:t>
            </a:r>
            <a:r>
              <a:rPr dirty="0" sz="2300" spc="1030"/>
              <a:t> </a:t>
            </a:r>
            <a:r>
              <a:rPr dirty="0" sz="2300" spc="235"/>
              <a:t>o</a:t>
            </a:r>
            <a:r>
              <a:rPr dirty="0" sz="2300" spc="100"/>
              <a:t>r</a:t>
            </a:r>
            <a:r>
              <a:rPr dirty="0" sz="2300" spc="175"/>
              <a:t>t</a:t>
            </a:r>
            <a:r>
              <a:rPr dirty="0" sz="2300" spc="295"/>
              <a:t>s</a:t>
            </a:r>
            <a:r>
              <a:rPr dirty="0" sz="2300" spc="-229"/>
              <a:t>:</a:t>
            </a:r>
            <a:r>
              <a:rPr dirty="0" sz="2300" spc="-370"/>
              <a:t> </a:t>
            </a:r>
            <a:r>
              <a:rPr dirty="0" sz="2300" spc="215"/>
              <a:t>F</a:t>
            </a:r>
            <a:r>
              <a:rPr dirty="0" sz="2300" spc="235"/>
              <a:t>o</a:t>
            </a:r>
            <a:r>
              <a:rPr dirty="0" sz="2300" spc="295"/>
              <a:t>s</a:t>
            </a:r>
            <a:r>
              <a:rPr dirty="0" sz="2300" spc="175"/>
              <a:t>t</a:t>
            </a:r>
            <a:r>
              <a:rPr dirty="0" sz="2300" spc="260"/>
              <a:t>e</a:t>
            </a:r>
            <a:r>
              <a:rPr dirty="0" sz="2300" spc="100"/>
              <a:t>r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200"/>
              <a:t>g</a:t>
            </a:r>
            <a:r>
              <a:rPr dirty="0" sz="2300" spc="-370"/>
              <a:t> </a:t>
            </a:r>
            <a:r>
              <a:rPr dirty="0" sz="2300" spc="185"/>
              <a:t>a  </a:t>
            </a:r>
            <a:r>
              <a:rPr dirty="0" sz="2300" spc="434"/>
              <a:t>c</a:t>
            </a:r>
            <a:r>
              <a:rPr dirty="0" sz="2300" spc="175"/>
              <a:t>u</a:t>
            </a:r>
            <a:r>
              <a:rPr dirty="0" sz="2300" spc="150"/>
              <a:t>l</a:t>
            </a:r>
            <a:r>
              <a:rPr dirty="0" sz="2300" spc="175"/>
              <a:t>t</a:t>
            </a:r>
            <a:r>
              <a:rPr dirty="0" sz="2300" spc="175"/>
              <a:t>u</a:t>
            </a:r>
            <a:r>
              <a:rPr dirty="0" sz="2300" spc="80"/>
              <a:t>r</a:t>
            </a:r>
            <a:r>
              <a:rPr dirty="0" sz="2300" spc="265"/>
              <a:t>e</a:t>
            </a:r>
            <a:r>
              <a:rPr dirty="0" sz="2300" spc="-370"/>
              <a:t> </a:t>
            </a:r>
            <a:r>
              <a:rPr dirty="0" sz="2300" spc="235"/>
              <a:t>o</a:t>
            </a:r>
            <a:r>
              <a:rPr dirty="0" sz="2300" spc="145"/>
              <a:t>f</a:t>
            </a:r>
            <a:r>
              <a:rPr dirty="0" sz="2300" spc="-370"/>
              <a:t> </a:t>
            </a:r>
            <a:r>
              <a:rPr dirty="0" sz="2300" spc="434"/>
              <a:t>c</a:t>
            </a:r>
            <a:r>
              <a:rPr dirty="0" sz="2300" spc="235"/>
              <a:t>o</a:t>
            </a:r>
            <a:r>
              <a:rPr dirty="0" sz="2300" spc="175"/>
              <a:t>n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175"/>
              <a:t>nu</a:t>
            </a:r>
            <a:r>
              <a:rPr dirty="0" sz="2300" spc="235"/>
              <a:t>o</a:t>
            </a:r>
            <a:r>
              <a:rPr dirty="0" sz="2300" spc="175"/>
              <a:t>u</a:t>
            </a:r>
            <a:r>
              <a:rPr dirty="0" sz="2300" spc="300"/>
              <a:t>s</a:t>
            </a:r>
            <a:r>
              <a:rPr dirty="0" sz="2300" spc="-370"/>
              <a:t> </a:t>
            </a:r>
            <a:r>
              <a:rPr dirty="0" sz="2300" spc="150"/>
              <a:t>l</a:t>
            </a:r>
            <a:r>
              <a:rPr dirty="0" sz="2300" spc="260"/>
              <a:t>e</a:t>
            </a:r>
            <a:r>
              <a:rPr dirty="0" sz="2300" spc="250"/>
              <a:t>a</a:t>
            </a:r>
            <a:r>
              <a:rPr dirty="0" sz="2300" spc="100"/>
              <a:t>r</a:t>
            </a:r>
            <a:r>
              <a:rPr dirty="0" sz="2300" spc="175"/>
              <a:t>n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200"/>
              <a:t>g</a:t>
            </a:r>
            <a:r>
              <a:rPr dirty="0" sz="2300" spc="-370"/>
              <a:t> </a:t>
            </a:r>
            <a:r>
              <a:rPr dirty="0" sz="2300" spc="250"/>
              <a:t>a</a:t>
            </a:r>
            <a:r>
              <a:rPr dirty="0" sz="2300" spc="175"/>
              <a:t>n</a:t>
            </a:r>
            <a:r>
              <a:rPr dirty="0" sz="2300" spc="145"/>
              <a:t>d  </a:t>
            </a:r>
            <a:r>
              <a:rPr dirty="0" sz="2300" spc="215"/>
              <a:t>growth</a:t>
            </a:r>
            <a:endParaRPr sz="2300"/>
          </a:p>
        </p:txBody>
      </p:sp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47871" y="7197328"/>
            <a:ext cx="2077802" cy="3654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816" y="0"/>
            <a:ext cx="2996068" cy="77152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84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84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84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84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4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322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322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322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322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22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760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760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60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760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760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198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198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198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198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198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636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636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636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6636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6636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954226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954226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954226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082402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082402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082402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21057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21057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21057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33875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33875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3875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46692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46692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46692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5105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5105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595105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723281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723281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723281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85145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85145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85145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97963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97963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97963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310780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310780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10780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3235984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235984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235984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70929" y="2592434"/>
            <a:ext cx="6069965" cy="2105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700"/>
              </a:lnSpc>
              <a:spcBef>
                <a:spcPts val="95"/>
              </a:spcBef>
            </a:pPr>
            <a:r>
              <a:rPr dirty="0" sz="1550" spc="114">
                <a:solidFill>
                  <a:srgbClr val="414141"/>
                </a:solidFill>
                <a:latin typeface="Microsoft Sans Serif"/>
                <a:cs typeface="Microsoft Sans Serif"/>
              </a:rPr>
              <a:t>By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integrating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technology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tools,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enhance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productivity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e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 ciency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in their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operations.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Embracing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automation,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AI,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data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analytics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streamline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processes,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 optimize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work</a:t>
            </a:r>
            <a:r>
              <a:rPr dirty="0" sz="1550" spc="409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ows,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drive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innovation.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Leveraging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these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tools </a:t>
            </a:r>
            <a:r>
              <a:rPr dirty="0" sz="1550" spc="-39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empowers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to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stay competitive,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adapt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to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market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changes,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deliver</a:t>
            </a:r>
            <a:r>
              <a:rPr dirty="0" sz="1550" spc="-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value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to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customers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e</a:t>
            </a:r>
            <a:r>
              <a:rPr dirty="0" sz="1550" spc="4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25">
                <a:solidFill>
                  <a:srgbClr val="414141"/>
                </a:solidFill>
                <a:latin typeface="Microsoft Sans Serif"/>
                <a:cs typeface="Microsoft Sans Serif"/>
              </a:rPr>
              <a:t>ectively.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870182" y="745222"/>
            <a:ext cx="4725670" cy="108585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0"/>
              </a:spcBef>
            </a:pPr>
            <a:r>
              <a:rPr dirty="0" sz="2300" spc="170"/>
              <a:t>8</a:t>
            </a:r>
            <a:r>
              <a:rPr dirty="0" sz="2300" spc="-20"/>
              <a:t>.</a:t>
            </a:r>
            <a:r>
              <a:rPr dirty="0" sz="2300" spc="-370"/>
              <a:t> </a:t>
            </a:r>
            <a:r>
              <a:rPr dirty="0" sz="2300" spc="155"/>
              <a:t>T</a:t>
            </a:r>
            <a:r>
              <a:rPr dirty="0" sz="2300" spc="260"/>
              <a:t>e</a:t>
            </a:r>
            <a:r>
              <a:rPr dirty="0" sz="2300" spc="434"/>
              <a:t>c</a:t>
            </a:r>
            <a:r>
              <a:rPr dirty="0" sz="2300" spc="175"/>
              <a:t>hn</a:t>
            </a:r>
            <a:r>
              <a:rPr dirty="0" sz="2300" spc="235"/>
              <a:t>o</a:t>
            </a:r>
            <a:r>
              <a:rPr dirty="0" sz="2300" spc="150"/>
              <a:t>l</a:t>
            </a:r>
            <a:r>
              <a:rPr dirty="0" sz="2300" spc="235"/>
              <a:t>o</a:t>
            </a:r>
            <a:r>
              <a:rPr dirty="0" sz="2300" spc="195"/>
              <a:t>g</a:t>
            </a:r>
            <a:r>
              <a:rPr dirty="0" sz="2300" spc="140"/>
              <a:t>y</a:t>
            </a:r>
            <a:r>
              <a:rPr dirty="0" sz="2300" spc="-370"/>
              <a:t> </a:t>
            </a:r>
            <a:r>
              <a:rPr dirty="0" sz="2300" spc="-65"/>
              <a:t>I</a:t>
            </a:r>
            <a:r>
              <a:rPr dirty="0" sz="2300" spc="175"/>
              <a:t>n</a:t>
            </a:r>
            <a:r>
              <a:rPr dirty="0" sz="2300" spc="175"/>
              <a:t>t</a:t>
            </a:r>
            <a:r>
              <a:rPr dirty="0" sz="2300" spc="260"/>
              <a:t>e</a:t>
            </a:r>
            <a:r>
              <a:rPr dirty="0" sz="2300" spc="195"/>
              <a:t>g</a:t>
            </a:r>
            <a:r>
              <a:rPr dirty="0" sz="2300" spc="80"/>
              <a:t>r</a:t>
            </a:r>
            <a:r>
              <a:rPr dirty="0" sz="2300" spc="250"/>
              <a:t>a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235"/>
              <a:t>o</a:t>
            </a:r>
            <a:r>
              <a:rPr dirty="0" sz="2300" spc="175"/>
              <a:t>n</a:t>
            </a:r>
            <a:r>
              <a:rPr dirty="0" sz="2300" spc="-195"/>
              <a:t>:  </a:t>
            </a:r>
            <a:r>
              <a:rPr dirty="0" sz="2300" spc="350"/>
              <a:t>L</a:t>
            </a:r>
            <a:r>
              <a:rPr dirty="0" sz="2300" spc="260"/>
              <a:t>e</a:t>
            </a:r>
            <a:r>
              <a:rPr dirty="0" sz="2300" spc="135"/>
              <a:t>v</a:t>
            </a:r>
            <a:r>
              <a:rPr dirty="0" sz="2300" spc="260"/>
              <a:t>e</a:t>
            </a:r>
            <a:r>
              <a:rPr dirty="0" sz="2300" spc="80"/>
              <a:t>r</a:t>
            </a:r>
            <a:r>
              <a:rPr dirty="0" sz="2300" spc="250"/>
              <a:t>a</a:t>
            </a:r>
            <a:r>
              <a:rPr dirty="0" sz="2300" spc="195"/>
              <a:t>g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200"/>
              <a:t>g</a:t>
            </a:r>
            <a:r>
              <a:rPr dirty="0" sz="2300" spc="-370"/>
              <a:t> </a:t>
            </a:r>
            <a:r>
              <a:rPr dirty="0" sz="2300" spc="175"/>
              <a:t>t</a:t>
            </a:r>
            <a:r>
              <a:rPr dirty="0" sz="2300" spc="235"/>
              <a:t>oo</a:t>
            </a:r>
            <a:r>
              <a:rPr dirty="0" sz="2300" spc="150"/>
              <a:t>l</a:t>
            </a:r>
            <a:r>
              <a:rPr dirty="0" sz="2300" spc="300"/>
              <a:t>s</a:t>
            </a:r>
            <a:r>
              <a:rPr dirty="0" sz="2300" spc="-370"/>
              <a:t> </a:t>
            </a:r>
            <a:r>
              <a:rPr dirty="0" sz="2300" spc="175"/>
              <a:t>t</a:t>
            </a:r>
            <a:r>
              <a:rPr dirty="0" sz="2300" spc="240"/>
              <a:t>o</a:t>
            </a:r>
            <a:r>
              <a:rPr dirty="0" sz="2300" spc="-370"/>
              <a:t> </a:t>
            </a:r>
            <a:r>
              <a:rPr dirty="0" sz="2300" spc="260"/>
              <a:t>e</a:t>
            </a:r>
            <a:r>
              <a:rPr dirty="0" sz="2300" spc="175"/>
              <a:t>nh</a:t>
            </a:r>
            <a:r>
              <a:rPr dirty="0" sz="2300" spc="250"/>
              <a:t>a</a:t>
            </a:r>
            <a:r>
              <a:rPr dirty="0" sz="2300" spc="175"/>
              <a:t>n</a:t>
            </a:r>
            <a:r>
              <a:rPr dirty="0" sz="2300" spc="434"/>
              <a:t>c</a:t>
            </a:r>
            <a:r>
              <a:rPr dirty="0" sz="2300" spc="195"/>
              <a:t>e  </a:t>
            </a:r>
            <a:r>
              <a:rPr dirty="0" sz="2300" spc="200"/>
              <a:t>p</a:t>
            </a:r>
            <a:r>
              <a:rPr dirty="0" sz="2300" spc="80"/>
              <a:t>r</a:t>
            </a:r>
            <a:r>
              <a:rPr dirty="0" sz="2300" spc="235"/>
              <a:t>o</a:t>
            </a:r>
            <a:r>
              <a:rPr dirty="0" sz="2300" spc="200"/>
              <a:t>d</a:t>
            </a:r>
            <a:r>
              <a:rPr dirty="0" sz="2300" spc="175"/>
              <a:t>u</a:t>
            </a:r>
            <a:r>
              <a:rPr dirty="0" sz="2300" spc="434"/>
              <a:t>c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135"/>
              <a:t>v</a:t>
            </a:r>
            <a:r>
              <a:rPr dirty="0" sz="2300" spc="150"/>
              <a:t>i</a:t>
            </a:r>
            <a:r>
              <a:rPr dirty="0" sz="2300" spc="175"/>
              <a:t>t</a:t>
            </a:r>
            <a:r>
              <a:rPr dirty="0" sz="2300" spc="140"/>
              <a:t>y</a:t>
            </a:r>
            <a:r>
              <a:rPr dirty="0" sz="2300" spc="-370"/>
              <a:t> </a:t>
            </a:r>
            <a:r>
              <a:rPr dirty="0" sz="2300" spc="250"/>
              <a:t>a</a:t>
            </a:r>
            <a:r>
              <a:rPr dirty="0" sz="2300" spc="175"/>
              <a:t>n</a:t>
            </a:r>
            <a:r>
              <a:rPr dirty="0" sz="2300" spc="204"/>
              <a:t>d</a:t>
            </a:r>
            <a:r>
              <a:rPr dirty="0" sz="2300" spc="-370"/>
              <a:t> </a:t>
            </a:r>
            <a:r>
              <a:rPr dirty="0" sz="2300" spc="260"/>
              <a:t>e</a:t>
            </a:r>
            <a:r>
              <a:rPr dirty="0" sz="2300" spc="1825"/>
              <a:t> </a:t>
            </a:r>
            <a:r>
              <a:rPr dirty="0" sz="2300" spc="434"/>
              <a:t>c</a:t>
            </a:r>
            <a:r>
              <a:rPr dirty="0" sz="2300" spc="150"/>
              <a:t>i</a:t>
            </a:r>
            <a:r>
              <a:rPr dirty="0" sz="2300" spc="260"/>
              <a:t>e</a:t>
            </a:r>
            <a:r>
              <a:rPr dirty="0" sz="2300" spc="175"/>
              <a:t>n</a:t>
            </a:r>
            <a:r>
              <a:rPr dirty="0" sz="2300" spc="434"/>
              <a:t>c</a:t>
            </a:r>
            <a:r>
              <a:rPr dirty="0" sz="2300" spc="140"/>
              <a:t>y</a:t>
            </a:r>
            <a:endParaRPr sz="2300"/>
          </a:p>
        </p:txBody>
      </p:sp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47871" y="7197328"/>
            <a:ext cx="2077802" cy="3654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816" y="0"/>
            <a:ext cx="2995429" cy="77152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84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84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84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84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4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322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322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322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322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22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760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760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60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760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760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198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198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198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198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198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636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636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636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6636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6636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954226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954226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954226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082402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082402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082402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21057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21057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21057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33875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33875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3875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46692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46692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46692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5105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5105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595105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723281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723281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723281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85145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85145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85145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97963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97963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97963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310780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310780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10780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3235984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235984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235984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70929" y="2592427"/>
            <a:ext cx="6126480" cy="2798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700"/>
              </a:lnSpc>
              <a:spcBef>
                <a:spcPts val="95"/>
              </a:spcBef>
            </a:pP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signi</a:t>
            </a:r>
            <a:r>
              <a:rPr dirty="0" sz="1550" spc="409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cance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impact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of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skilled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labor</a:t>
            </a:r>
            <a:r>
              <a:rPr dirty="0" sz="1550" spc="-8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supply </a:t>
            </a:r>
            <a:r>
              <a:rPr dirty="0" sz="1550" spc="-40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solutions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in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diverse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settings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is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crucial. In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exploring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successful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case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studies,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we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witness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 rsthand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how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strategic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implementation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of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skilled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labor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resources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has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empowered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to </a:t>
            </a:r>
            <a:r>
              <a:rPr dirty="0" sz="1550" spc="95">
                <a:solidFill>
                  <a:srgbClr val="414141"/>
                </a:solidFill>
                <a:latin typeface="Microsoft Sans Serif"/>
                <a:cs typeface="Microsoft Sans Serif"/>
              </a:rPr>
              <a:t>meet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their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goals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e </a:t>
            </a:r>
            <a:r>
              <a:rPr dirty="0" sz="1550" spc="25">
                <a:solidFill>
                  <a:srgbClr val="414141"/>
                </a:solidFill>
                <a:latin typeface="Microsoft Sans Serif"/>
                <a:cs typeface="Microsoft Sans Serif"/>
              </a:rPr>
              <a:t>ectively.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These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real-world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examples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highlight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the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tangible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bene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ts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90">
                <a:solidFill>
                  <a:srgbClr val="414141"/>
                </a:solidFill>
                <a:latin typeface="Microsoft Sans Serif"/>
                <a:cs typeface="Microsoft Sans Serif"/>
              </a:rPr>
              <a:t>outcomes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of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leveraging skilled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labor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supply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solutions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in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today's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dynamic </a:t>
            </a:r>
            <a:r>
              <a:rPr dirty="0" sz="1550" spc="9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market</a:t>
            </a:r>
            <a:r>
              <a:rPr dirty="0" sz="1550" spc="-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landscape.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870182" y="745222"/>
            <a:ext cx="5157470" cy="108585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0"/>
              </a:spcBef>
            </a:pPr>
            <a:r>
              <a:rPr dirty="0" sz="2300" spc="170"/>
              <a:t>9</a:t>
            </a:r>
            <a:r>
              <a:rPr dirty="0" sz="2300" spc="-20"/>
              <a:t>.</a:t>
            </a:r>
            <a:r>
              <a:rPr dirty="0" sz="2300" spc="-370"/>
              <a:t> </a:t>
            </a:r>
            <a:r>
              <a:rPr dirty="0" sz="2300" spc="300"/>
              <a:t>C</a:t>
            </a:r>
            <a:r>
              <a:rPr dirty="0" sz="2300" spc="250"/>
              <a:t>a</a:t>
            </a:r>
            <a:r>
              <a:rPr dirty="0" sz="2300" spc="295"/>
              <a:t>s</a:t>
            </a:r>
            <a:r>
              <a:rPr dirty="0" sz="2300" spc="265"/>
              <a:t>e</a:t>
            </a:r>
            <a:r>
              <a:rPr dirty="0" sz="2300" spc="-370"/>
              <a:t> </a:t>
            </a:r>
            <a:r>
              <a:rPr dirty="0" sz="2300" spc="195"/>
              <a:t>S</a:t>
            </a:r>
            <a:r>
              <a:rPr dirty="0" sz="2300" spc="175"/>
              <a:t>t</a:t>
            </a:r>
            <a:r>
              <a:rPr dirty="0" sz="2300" spc="175"/>
              <a:t>u</a:t>
            </a:r>
            <a:r>
              <a:rPr dirty="0" sz="2300" spc="200"/>
              <a:t>d</a:t>
            </a:r>
            <a:r>
              <a:rPr dirty="0" sz="2300" spc="150"/>
              <a:t>i</a:t>
            </a:r>
            <a:r>
              <a:rPr dirty="0" sz="2300" spc="260"/>
              <a:t>e</a:t>
            </a:r>
            <a:r>
              <a:rPr dirty="0" sz="2300" spc="295"/>
              <a:t>s</a:t>
            </a:r>
            <a:r>
              <a:rPr dirty="0" sz="2300" spc="-229"/>
              <a:t>:</a:t>
            </a:r>
            <a:r>
              <a:rPr dirty="0" sz="2300" spc="-370"/>
              <a:t> </a:t>
            </a:r>
            <a:r>
              <a:rPr dirty="0" sz="2300" spc="195"/>
              <a:t>S</a:t>
            </a:r>
            <a:r>
              <a:rPr dirty="0" sz="2300" spc="175"/>
              <a:t>u</a:t>
            </a:r>
            <a:r>
              <a:rPr dirty="0" sz="2300" spc="434"/>
              <a:t>cc</a:t>
            </a:r>
            <a:r>
              <a:rPr dirty="0" sz="2300" spc="260"/>
              <a:t>e</a:t>
            </a:r>
            <a:r>
              <a:rPr dirty="0" sz="2300" spc="295"/>
              <a:t>ss</a:t>
            </a:r>
            <a:r>
              <a:rPr dirty="0" sz="2300" spc="140"/>
              <a:t>f</a:t>
            </a:r>
            <a:r>
              <a:rPr dirty="0" sz="2300" spc="175"/>
              <a:t>u</a:t>
            </a:r>
            <a:r>
              <a:rPr dirty="0" sz="2300" spc="170"/>
              <a:t>l  i</a:t>
            </a:r>
            <a:r>
              <a:rPr dirty="0" sz="2300" spc="215"/>
              <a:t>m</a:t>
            </a:r>
            <a:r>
              <a:rPr dirty="0" sz="2300" spc="200"/>
              <a:t>p</a:t>
            </a:r>
            <a:r>
              <a:rPr dirty="0" sz="2300" spc="150"/>
              <a:t>l</a:t>
            </a:r>
            <a:r>
              <a:rPr dirty="0" sz="2300" spc="260"/>
              <a:t>e</a:t>
            </a:r>
            <a:r>
              <a:rPr dirty="0" sz="2300" spc="215"/>
              <a:t>m</a:t>
            </a:r>
            <a:r>
              <a:rPr dirty="0" sz="2300" spc="260"/>
              <a:t>e</a:t>
            </a:r>
            <a:r>
              <a:rPr dirty="0" sz="2300" spc="175"/>
              <a:t>n</a:t>
            </a:r>
            <a:r>
              <a:rPr dirty="0" sz="2300" spc="175"/>
              <a:t>t</a:t>
            </a:r>
            <a:r>
              <a:rPr dirty="0" sz="2300" spc="250"/>
              <a:t>a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235"/>
              <a:t>o</a:t>
            </a:r>
            <a:r>
              <a:rPr dirty="0" sz="2300" spc="180"/>
              <a:t>n</a:t>
            </a:r>
            <a:r>
              <a:rPr dirty="0" sz="2300" spc="-370"/>
              <a:t> </a:t>
            </a:r>
            <a:r>
              <a:rPr dirty="0" sz="2300" spc="235"/>
              <a:t>o</a:t>
            </a:r>
            <a:r>
              <a:rPr dirty="0" sz="2300" spc="145"/>
              <a:t>f</a:t>
            </a:r>
            <a:r>
              <a:rPr dirty="0" sz="2300" spc="-370"/>
              <a:t> </a:t>
            </a:r>
            <a:r>
              <a:rPr dirty="0" sz="2300" spc="295"/>
              <a:t>s</a:t>
            </a:r>
            <a:r>
              <a:rPr dirty="0" sz="2300" spc="270"/>
              <a:t>k</a:t>
            </a:r>
            <a:r>
              <a:rPr dirty="0" sz="2300" spc="150"/>
              <a:t>ill</a:t>
            </a:r>
            <a:r>
              <a:rPr dirty="0" sz="2300" spc="260"/>
              <a:t>e</a:t>
            </a:r>
            <a:r>
              <a:rPr dirty="0" sz="2300" spc="204"/>
              <a:t>d</a:t>
            </a:r>
            <a:r>
              <a:rPr dirty="0" sz="2300" spc="-370"/>
              <a:t> </a:t>
            </a:r>
            <a:r>
              <a:rPr dirty="0" sz="2300" spc="150"/>
              <a:t>l</a:t>
            </a:r>
            <a:r>
              <a:rPr dirty="0" sz="2300" spc="250"/>
              <a:t>a</a:t>
            </a:r>
            <a:r>
              <a:rPr dirty="0" sz="2300" spc="200"/>
              <a:t>b</a:t>
            </a:r>
            <a:r>
              <a:rPr dirty="0" sz="2300" spc="235"/>
              <a:t>o</a:t>
            </a:r>
            <a:r>
              <a:rPr dirty="0" sz="2300" spc="95"/>
              <a:t>r  </a:t>
            </a:r>
            <a:r>
              <a:rPr dirty="0" sz="2300" spc="295"/>
              <a:t>s</a:t>
            </a:r>
            <a:r>
              <a:rPr dirty="0" sz="2300" spc="175"/>
              <a:t>u</a:t>
            </a:r>
            <a:r>
              <a:rPr dirty="0" sz="2300" spc="200"/>
              <a:t>pp</a:t>
            </a:r>
            <a:r>
              <a:rPr dirty="0" sz="2300" spc="150"/>
              <a:t>l</a:t>
            </a:r>
            <a:r>
              <a:rPr dirty="0" sz="2300" spc="140"/>
              <a:t>y</a:t>
            </a:r>
            <a:r>
              <a:rPr dirty="0" sz="2300" spc="-370"/>
              <a:t> </a:t>
            </a:r>
            <a:r>
              <a:rPr dirty="0" sz="2300" spc="295"/>
              <a:t>s</a:t>
            </a:r>
            <a:r>
              <a:rPr dirty="0" sz="2300" spc="235"/>
              <a:t>o</a:t>
            </a:r>
            <a:r>
              <a:rPr dirty="0" sz="2300" spc="150"/>
              <a:t>l</a:t>
            </a:r>
            <a:r>
              <a:rPr dirty="0" sz="2300" spc="175"/>
              <a:t>u</a:t>
            </a:r>
            <a:r>
              <a:rPr dirty="0" sz="2300" spc="175"/>
              <a:t>t</a:t>
            </a:r>
            <a:r>
              <a:rPr dirty="0" sz="2300" spc="150"/>
              <a:t>i</a:t>
            </a:r>
            <a:r>
              <a:rPr dirty="0" sz="2300" spc="235"/>
              <a:t>o</a:t>
            </a:r>
            <a:r>
              <a:rPr dirty="0" sz="2300" spc="175"/>
              <a:t>n</a:t>
            </a:r>
            <a:r>
              <a:rPr dirty="0" sz="2300" spc="300"/>
              <a:t>s</a:t>
            </a:r>
            <a:endParaRPr sz="2300"/>
          </a:p>
        </p:txBody>
      </p:sp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47871" y="7197328"/>
            <a:ext cx="2077802" cy="3654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816" y="0"/>
            <a:ext cx="2996565" cy="77152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84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84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84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84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4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322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322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322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322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322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10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760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760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760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760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1760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198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198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198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198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198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66363" y="6732055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6363" y="695643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66363" y="7180816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66363" y="740637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66363" y="7630757"/>
            <a:ext cx="41910" cy="36830"/>
          </a:xfrm>
          <a:custGeom>
            <a:avLst/>
            <a:gdLst/>
            <a:ahLst/>
            <a:cxnLst/>
            <a:rect l="l" t="t" r="r" b="b"/>
            <a:pathLst>
              <a:path w="41909" h="36829">
                <a:moveTo>
                  <a:pt x="41333" y="36609"/>
                </a:moveTo>
                <a:lnTo>
                  <a:pt x="0" y="36609"/>
                </a:lnTo>
                <a:lnTo>
                  <a:pt x="0" y="0"/>
                </a:lnTo>
                <a:lnTo>
                  <a:pt x="41333" y="0"/>
                </a:lnTo>
                <a:lnTo>
                  <a:pt x="41333" y="36609"/>
                </a:lnTo>
                <a:close/>
              </a:path>
            </a:pathLst>
          </a:custGeom>
          <a:solidFill>
            <a:srgbClr val="FB37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954226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954226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954226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082402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2082402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082402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21057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21057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221057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233875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233875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3875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46692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46692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246692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2595105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2595105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2595105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723281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2723281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2723281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851457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851457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2851457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979633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979633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2979633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29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3107809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3107809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3107809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3235984" y="88722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5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3235984" y="216898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3235984" y="345749"/>
            <a:ext cx="24130" cy="20955"/>
          </a:xfrm>
          <a:custGeom>
            <a:avLst/>
            <a:gdLst/>
            <a:ahLst/>
            <a:cxnLst/>
            <a:rect l="l" t="t" r="r" b="b"/>
            <a:pathLst>
              <a:path w="24130" h="20954">
                <a:moveTo>
                  <a:pt x="23611" y="20912"/>
                </a:moveTo>
                <a:lnTo>
                  <a:pt x="0" y="20912"/>
                </a:lnTo>
                <a:lnTo>
                  <a:pt x="0" y="0"/>
                </a:lnTo>
                <a:lnTo>
                  <a:pt x="23611" y="0"/>
                </a:lnTo>
                <a:lnTo>
                  <a:pt x="23611" y="2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870929" y="2592375"/>
            <a:ext cx="6086475" cy="2451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6700"/>
              </a:lnSpc>
              <a:spcBef>
                <a:spcPts val="95"/>
              </a:spcBef>
            </a:pPr>
            <a:r>
              <a:rPr dirty="0" sz="1550" spc="114">
                <a:solidFill>
                  <a:srgbClr val="414141"/>
                </a:solidFill>
                <a:latin typeface="Microsoft Sans Serif"/>
                <a:cs typeface="Microsoft Sans Serif"/>
              </a:rPr>
              <a:t>By</a:t>
            </a:r>
            <a:r>
              <a:rPr dirty="0" sz="1550" spc="-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strategic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utilization</a:t>
            </a:r>
            <a:r>
              <a:rPr dirty="0" sz="1550" spc="-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of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skilled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labor</a:t>
            </a:r>
            <a:r>
              <a:rPr dirty="0" sz="1550" spc="-8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35">
                <a:solidFill>
                  <a:srgbClr val="414141"/>
                </a:solidFill>
                <a:latin typeface="Microsoft Sans Serif"/>
                <a:cs typeface="Microsoft Sans Serif"/>
              </a:rPr>
              <a:t>supply,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witness </a:t>
            </a:r>
            <a:r>
              <a:rPr dirty="0" sz="1550" spc="-40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enhanced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operational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e</a:t>
            </a:r>
            <a:r>
              <a:rPr dirty="0" sz="1550" spc="38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30">
                <a:solidFill>
                  <a:srgbClr val="414141"/>
                </a:solidFill>
                <a:latin typeface="Microsoft Sans Serif"/>
                <a:cs typeface="Microsoft Sans Serif"/>
              </a:rPr>
              <a:t>ciency,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innovation,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35">
                <a:solidFill>
                  <a:srgbClr val="414141"/>
                </a:solidFill>
                <a:latin typeface="Microsoft Sans Serif"/>
                <a:cs typeface="Microsoft Sans Serif"/>
              </a:rPr>
              <a:t>adaptability.</a:t>
            </a:r>
            <a:endParaRPr sz="1550">
              <a:latin typeface="Microsoft Sans Serif"/>
              <a:cs typeface="Microsoft Sans Serif"/>
            </a:endParaRPr>
          </a:p>
          <a:p>
            <a:pPr marL="12700" marR="122555">
              <a:lnSpc>
                <a:spcPct val="146700"/>
              </a:lnSpc>
            </a:pPr>
            <a:r>
              <a:rPr dirty="0" sz="1550" spc="90">
                <a:solidFill>
                  <a:srgbClr val="414141"/>
                </a:solidFill>
                <a:latin typeface="Microsoft Sans Serif"/>
                <a:cs typeface="Microsoft Sans Serif"/>
              </a:rPr>
              <a:t>Empowered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workforce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contributes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to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sustainable growth,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competitive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advantage,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55">
                <a:solidFill>
                  <a:srgbClr val="414141"/>
                </a:solidFill>
                <a:latin typeface="Microsoft Sans Serif"/>
                <a:cs typeface="Microsoft Sans Serif"/>
              </a:rPr>
              <a:t>organizational </a:t>
            </a:r>
            <a:r>
              <a:rPr dirty="0" sz="1550" spc="45">
                <a:solidFill>
                  <a:srgbClr val="414141"/>
                </a:solidFill>
                <a:latin typeface="Microsoft Sans Serif"/>
                <a:cs typeface="Microsoft Sans Serif"/>
              </a:rPr>
              <a:t>resilience.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Through </a:t>
            </a:r>
            <a:r>
              <a:rPr dirty="0" sz="1550" spc="-40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targeted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recruitment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development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programs,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businesses </a:t>
            </a:r>
            <a:r>
              <a:rPr dirty="0" sz="1550" spc="7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can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create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a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5">
                <a:solidFill>
                  <a:srgbClr val="414141"/>
                </a:solidFill>
                <a:latin typeface="Microsoft Sans Serif"/>
                <a:cs typeface="Microsoft Sans Serif"/>
              </a:rPr>
              <a:t>dynamic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workforce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capable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414141"/>
                </a:solidFill>
                <a:latin typeface="Microsoft Sans Serif"/>
                <a:cs typeface="Microsoft Sans Serif"/>
              </a:rPr>
              <a:t>of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driving</a:t>
            </a:r>
            <a:r>
              <a:rPr dirty="0" sz="1550" spc="-4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success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414141"/>
                </a:solidFill>
                <a:latin typeface="Microsoft Sans Serif"/>
                <a:cs typeface="Microsoft Sans Serif"/>
              </a:rPr>
              <a:t>and </a:t>
            </a:r>
            <a:r>
              <a:rPr dirty="0" sz="1550" spc="-40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thriving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414141"/>
                </a:solidFill>
                <a:latin typeface="Microsoft Sans Serif"/>
                <a:cs typeface="Microsoft Sans Serif"/>
              </a:rPr>
              <a:t>in</a:t>
            </a:r>
            <a:r>
              <a:rPr dirty="0" sz="1550" spc="-50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today's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414141"/>
                </a:solidFill>
                <a:latin typeface="Microsoft Sans Serif"/>
                <a:cs typeface="Microsoft Sans Serif"/>
              </a:rPr>
              <a:t>fast-paced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market</a:t>
            </a:r>
            <a:r>
              <a:rPr dirty="0" sz="1550" spc="-45">
                <a:solidFill>
                  <a:srgbClr val="414141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414141"/>
                </a:solidFill>
                <a:latin typeface="Microsoft Sans Serif"/>
                <a:cs typeface="Microsoft Sans Serif"/>
              </a:rPr>
              <a:t>environment.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870182" y="749279"/>
            <a:ext cx="5835650" cy="1080770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75"/>
              </a:spcBef>
            </a:pPr>
            <a:r>
              <a:rPr dirty="0" sz="2300" spc="170"/>
              <a:t>10</a:t>
            </a:r>
            <a:r>
              <a:rPr dirty="0" sz="2300" spc="-20"/>
              <a:t>.</a:t>
            </a:r>
            <a:r>
              <a:rPr dirty="0" sz="2300" spc="-370"/>
              <a:t> </a:t>
            </a:r>
            <a:r>
              <a:rPr dirty="0" sz="2300" spc="300"/>
              <a:t>C</a:t>
            </a:r>
            <a:r>
              <a:rPr dirty="0" sz="2300" spc="235"/>
              <a:t>o</a:t>
            </a:r>
            <a:r>
              <a:rPr dirty="0" sz="2300" spc="175"/>
              <a:t>n</a:t>
            </a:r>
            <a:r>
              <a:rPr dirty="0" sz="2300" spc="434"/>
              <a:t>c</a:t>
            </a:r>
            <a:r>
              <a:rPr dirty="0" sz="2300" spc="150"/>
              <a:t>l</a:t>
            </a:r>
            <a:r>
              <a:rPr dirty="0" sz="2300" spc="175"/>
              <a:t>u</a:t>
            </a:r>
            <a:r>
              <a:rPr dirty="0" sz="2300" spc="295"/>
              <a:t>s</a:t>
            </a:r>
            <a:r>
              <a:rPr dirty="0" sz="2300" spc="150"/>
              <a:t>i</a:t>
            </a:r>
            <a:r>
              <a:rPr dirty="0" sz="2300" spc="235"/>
              <a:t>o</a:t>
            </a:r>
            <a:r>
              <a:rPr dirty="0" sz="2300" spc="175"/>
              <a:t>n</a:t>
            </a:r>
            <a:r>
              <a:rPr dirty="0" sz="2300" spc="-229"/>
              <a:t>:</a:t>
            </a:r>
            <a:r>
              <a:rPr dirty="0" sz="2300" spc="-370"/>
              <a:t> </a:t>
            </a:r>
            <a:r>
              <a:rPr dirty="0" sz="2300" spc="350"/>
              <a:t>T</a:t>
            </a:r>
            <a:r>
              <a:rPr dirty="0" sz="2300" spc="175"/>
              <a:t>h</a:t>
            </a:r>
            <a:r>
              <a:rPr dirty="0" sz="2300" spc="265"/>
              <a:t>e</a:t>
            </a:r>
            <a:r>
              <a:rPr dirty="0" sz="2300" spc="-370"/>
              <a:t> </a:t>
            </a:r>
            <a:r>
              <a:rPr dirty="0" sz="2300" spc="150"/>
              <a:t>i</a:t>
            </a:r>
            <a:r>
              <a:rPr dirty="0" sz="2300" spc="215"/>
              <a:t>m</a:t>
            </a:r>
            <a:r>
              <a:rPr dirty="0" sz="2300" spc="200"/>
              <a:t>p</a:t>
            </a:r>
            <a:r>
              <a:rPr dirty="0" sz="2300" spc="250"/>
              <a:t>a</a:t>
            </a:r>
            <a:r>
              <a:rPr dirty="0" sz="2300" spc="434"/>
              <a:t>c</a:t>
            </a:r>
            <a:r>
              <a:rPr dirty="0" sz="2300" spc="180"/>
              <a:t>t</a:t>
            </a:r>
            <a:r>
              <a:rPr dirty="0" sz="2300" spc="-370"/>
              <a:t> </a:t>
            </a:r>
            <a:r>
              <a:rPr dirty="0" sz="2300" spc="235"/>
              <a:t>o</a:t>
            </a:r>
            <a:r>
              <a:rPr dirty="0" sz="2300" spc="145"/>
              <a:t>f  </a:t>
            </a:r>
            <a:r>
              <a:rPr dirty="0" sz="2300" spc="260"/>
              <a:t>e</a:t>
            </a:r>
            <a:r>
              <a:rPr dirty="0" sz="2300" spc="215"/>
              <a:t>m</a:t>
            </a:r>
            <a:r>
              <a:rPr dirty="0" sz="2300" spc="200"/>
              <a:t>p</a:t>
            </a:r>
            <a:r>
              <a:rPr dirty="0" sz="2300" spc="235"/>
              <a:t>o</a:t>
            </a:r>
            <a:r>
              <a:rPr dirty="0" sz="2300" spc="430"/>
              <a:t>w</a:t>
            </a:r>
            <a:r>
              <a:rPr dirty="0" sz="2300" spc="260"/>
              <a:t>e</a:t>
            </a:r>
            <a:r>
              <a:rPr dirty="0" sz="2300" spc="80"/>
              <a:t>r</a:t>
            </a:r>
            <a:r>
              <a:rPr dirty="0" sz="2300" spc="260"/>
              <a:t>e</a:t>
            </a:r>
            <a:r>
              <a:rPr dirty="0" sz="2300" spc="204"/>
              <a:t>d</a:t>
            </a:r>
            <a:r>
              <a:rPr dirty="0" sz="2300" spc="-370"/>
              <a:t> </a:t>
            </a:r>
            <a:r>
              <a:rPr dirty="0" sz="2300" spc="430"/>
              <a:t>w</a:t>
            </a:r>
            <a:r>
              <a:rPr dirty="0" sz="2300" spc="235"/>
              <a:t>o</a:t>
            </a:r>
            <a:r>
              <a:rPr dirty="0" sz="2300" spc="100"/>
              <a:t>r</a:t>
            </a:r>
            <a:r>
              <a:rPr dirty="0" sz="2300" spc="270"/>
              <a:t>k</a:t>
            </a:r>
            <a:r>
              <a:rPr dirty="0" sz="2300" spc="130"/>
              <a:t>f</a:t>
            </a:r>
            <a:r>
              <a:rPr dirty="0" sz="2300" spc="235"/>
              <a:t>o</a:t>
            </a:r>
            <a:r>
              <a:rPr dirty="0" sz="2300" spc="80"/>
              <a:t>r</a:t>
            </a:r>
            <a:r>
              <a:rPr dirty="0" sz="2300" spc="434"/>
              <a:t>c</a:t>
            </a:r>
            <a:r>
              <a:rPr dirty="0" sz="2300" spc="265"/>
              <a:t>e</a:t>
            </a:r>
            <a:r>
              <a:rPr dirty="0" sz="2300" spc="-370"/>
              <a:t> </a:t>
            </a:r>
            <a:r>
              <a:rPr dirty="0" sz="2300" spc="235"/>
              <a:t>o</a:t>
            </a:r>
            <a:r>
              <a:rPr dirty="0" sz="2300" spc="180"/>
              <a:t>n</a:t>
            </a:r>
            <a:r>
              <a:rPr dirty="0" sz="2300" spc="-370"/>
              <a:t> </a:t>
            </a:r>
            <a:r>
              <a:rPr dirty="0" sz="2300" spc="200"/>
              <a:t>b</a:t>
            </a:r>
            <a:r>
              <a:rPr dirty="0" sz="2300" spc="175"/>
              <a:t>u</a:t>
            </a:r>
            <a:r>
              <a:rPr dirty="0" sz="2300" spc="295"/>
              <a:t>s</a:t>
            </a:r>
            <a:r>
              <a:rPr dirty="0" sz="2300" spc="150"/>
              <a:t>i</a:t>
            </a:r>
            <a:r>
              <a:rPr dirty="0" sz="2300" spc="175"/>
              <a:t>n</a:t>
            </a:r>
            <a:r>
              <a:rPr dirty="0" sz="2300" spc="260"/>
              <a:t>e</a:t>
            </a:r>
            <a:r>
              <a:rPr dirty="0" sz="2300" spc="295"/>
              <a:t>s</a:t>
            </a:r>
            <a:r>
              <a:rPr dirty="0" sz="2300" spc="235"/>
              <a:t>s  </a:t>
            </a:r>
            <a:r>
              <a:rPr dirty="0" sz="2300" spc="315"/>
              <a:t>success</a:t>
            </a:r>
            <a:endParaRPr sz="2300"/>
          </a:p>
        </p:txBody>
      </p:sp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47871" y="7197328"/>
            <a:ext cx="2077802" cy="365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2024-04-25T06:40:54Z</dcterms:created>
  <dcterms:modified xsi:type="dcterms:W3CDTF">2024-04-25T06:40:54Z</dcterms:modified>
</cp:coreProperties>
</file>